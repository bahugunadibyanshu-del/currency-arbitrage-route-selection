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E6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749808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1" i="0">
                <a:solidFill>
                  <a:srgbClr val="22C7D5"/>
                </a:solidFill>
                <a:latin typeface="Roboto Condensed"/>
              </a:rPr>
              <a:t>PROJECT-BASED LEARNING  •  PHASE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536192"/>
            <a:ext cx="8138160" cy="9601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800" b="1" i="0">
                <a:solidFill>
                  <a:srgbClr val="F4F7FA"/>
                </a:solidFill>
                <a:latin typeface="Roboto Condensed"/>
              </a:rPr>
              <a:t>Currency Arbitrage with
Market-Condition-Aware Route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761488"/>
            <a:ext cx="7040880" cy="6583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450" b="0" i="0">
                <a:solidFill>
                  <a:srgbClr val="A4B1C4"/>
                </a:solidFill>
                <a:latin typeface="Roboto Condensed"/>
              </a:rPr>
              <a:t>A graph-based system for finding profitable currency conversion cycles and
selecting a suitable route according to current market conditions.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" y="3694176"/>
            <a:ext cx="1417320" cy="393192"/>
          </a:xfrm>
          <a:prstGeom prst="roundRect">
            <a:avLst/>
          </a:prstGeom>
          <a:solidFill>
            <a:srgbClr val="2E6EEA"/>
          </a:solidFill>
          <a:ln w="10160">
            <a:solidFill>
              <a:srgbClr val="2E6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3721608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950" b="1" i="0">
                <a:solidFill>
                  <a:srgbClr val="F4F7FA"/>
                </a:solidFill>
                <a:latin typeface="Roboto Condensed"/>
              </a:rPr>
              <a:t>DSA  •  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6312" y="3694176"/>
            <a:ext cx="1874519" cy="393192"/>
          </a:xfrm>
          <a:prstGeom prst="roundRect">
            <a:avLst/>
          </a:prstGeom>
          <a:solidFill>
            <a:srgbClr val="22C7D5"/>
          </a:solidFill>
          <a:ln w="10160">
            <a:solidFill>
              <a:srgbClr val="22C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96312" y="37216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950" b="1" i="0">
                <a:solidFill>
                  <a:srgbClr val="F4F7FA"/>
                </a:solidFill>
                <a:latin typeface="Roboto Condensed"/>
              </a:rPr>
              <a:t>GRAPH ALGORITHMS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33672" y="3694176"/>
            <a:ext cx="1645920" cy="393192"/>
          </a:xfrm>
          <a:prstGeom prst="roundRect">
            <a:avLst/>
          </a:prstGeom>
          <a:solidFill>
            <a:srgbClr val="2BB673"/>
          </a:solidFill>
          <a:ln w="10160"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33672" y="372160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950" b="1" i="0">
                <a:solidFill>
                  <a:srgbClr val="F4F7FA"/>
                </a:solidFill>
                <a:latin typeface="Roboto Condensed"/>
              </a:rPr>
              <a:t>SIMULATION</a:t>
            </a:r>
          </a:p>
        </p:txBody>
      </p:sp>
      <p:sp>
        <p:nvSpPr>
          <p:cNvPr id="12" name="Oval 11"/>
          <p:cNvSpPr/>
          <p:nvPr/>
        </p:nvSpPr>
        <p:spPr>
          <a:xfrm>
            <a:off x="9948672" y="1481328"/>
            <a:ext cx="201168" cy="201168"/>
          </a:xfrm>
          <a:prstGeom prst="ellipse">
            <a:avLst/>
          </a:prstGeom>
          <a:solidFill>
            <a:srgbClr val="22C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38944" y="173736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850" b="1" i="0">
                <a:solidFill>
                  <a:srgbClr val="22C7D5"/>
                </a:solidFill>
                <a:latin typeface="Roboto Condensed"/>
              </a:rPr>
              <a:t>USD</a:t>
            </a:r>
          </a:p>
        </p:txBody>
      </p:sp>
      <p:sp>
        <p:nvSpPr>
          <p:cNvPr id="14" name="Oval 13"/>
          <p:cNvSpPr/>
          <p:nvPr/>
        </p:nvSpPr>
        <p:spPr>
          <a:xfrm>
            <a:off x="10835640" y="2487168"/>
            <a:ext cx="201168" cy="201168"/>
          </a:xfrm>
          <a:prstGeom prst="ellipse">
            <a:avLst/>
          </a:prstGeom>
          <a:solidFill>
            <a:srgbClr val="2E6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25912" y="2743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850" b="1" i="0">
                <a:solidFill>
                  <a:srgbClr val="2E6EEA"/>
                </a:solidFill>
                <a:latin typeface="Roboto Condensed"/>
              </a:rPr>
              <a:t>EUR</a:t>
            </a:r>
          </a:p>
        </p:txBody>
      </p:sp>
      <p:sp>
        <p:nvSpPr>
          <p:cNvPr id="16" name="Oval 15"/>
          <p:cNvSpPr/>
          <p:nvPr/>
        </p:nvSpPr>
        <p:spPr>
          <a:xfrm>
            <a:off x="9235440" y="3593592"/>
            <a:ext cx="201168" cy="201168"/>
          </a:xfrm>
          <a:prstGeom prst="ellipse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25712" y="3849624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850" b="1" i="0">
                <a:solidFill>
                  <a:srgbClr val="2BB673"/>
                </a:solidFill>
                <a:latin typeface="Roboto Condensed"/>
              </a:rPr>
              <a:t>INR</a:t>
            </a:r>
          </a:p>
        </p:txBody>
      </p:sp>
      <p:sp>
        <p:nvSpPr>
          <p:cNvPr id="18" name="Oval 17"/>
          <p:cNvSpPr/>
          <p:nvPr/>
        </p:nvSpPr>
        <p:spPr>
          <a:xfrm>
            <a:off x="11018520" y="4498848"/>
            <a:ext cx="201168" cy="201168"/>
          </a:xfrm>
          <a:prstGeom prst="ellipse">
            <a:avLst/>
          </a:prstGeom>
          <a:solidFill>
            <a:srgbClr val="F6A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08792" y="475488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850" b="1" i="0">
                <a:solidFill>
                  <a:srgbClr val="F6A23A"/>
                </a:solidFill>
                <a:latin typeface="Roboto Condensed"/>
              </a:rPr>
              <a:t>GBP</a:t>
            </a:r>
          </a:p>
        </p:txBody>
      </p:sp>
      <p:sp>
        <p:nvSpPr>
          <p:cNvPr id="20" name="Oval 19"/>
          <p:cNvSpPr/>
          <p:nvPr/>
        </p:nvSpPr>
        <p:spPr>
          <a:xfrm>
            <a:off x="8915400" y="5321808"/>
            <a:ext cx="201168" cy="201168"/>
          </a:xfrm>
          <a:prstGeom prst="ellipse">
            <a:avLst/>
          </a:prstGeom>
          <a:solidFill>
            <a:srgbClr val="2E6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6309360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50" b="0" i="0">
                <a:solidFill>
                  <a:srgbClr val="A4B1C4"/>
                </a:solidFill>
                <a:latin typeface="Roboto Condensed"/>
              </a:rPr>
              <a:t>Graphic Era (Deemed to be University)  •  Department of CSE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6309360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950" b="0" i="0">
                <a:solidFill>
                  <a:srgbClr val="A4B1C4"/>
                </a:solidFill>
                <a:latin typeface="Roboto Condensed"/>
              </a:rPr>
              <a:t>Academic Session 2026–27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40233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1000" b="1" i="0">
                <a:solidFill>
                  <a:srgbClr val="A4B1C4"/>
                </a:solidFill>
                <a:latin typeface="Roboto Condense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E6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438912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100" b="1" i="0">
                <a:solidFill>
                  <a:srgbClr val="22C7D5"/>
                </a:solidFill>
                <a:latin typeface="Roboto Condensed"/>
              </a:rPr>
              <a:t>PROJECT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795528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2800" b="1" i="0">
                <a:solidFill>
                  <a:srgbClr val="F4F7FA"/>
                </a:solidFill>
                <a:latin typeface="Roboto Condensed"/>
              </a:rPr>
              <a:t>Team &amp; Mentor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0233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1000" b="1" i="0">
                <a:solidFill>
                  <a:srgbClr val="A4B1C4"/>
                </a:solidFill>
                <a:latin typeface="Roboto Condensed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3246120" cy="4572000"/>
          </a:xfrm>
          <a:prstGeom prst="roundRect">
            <a:avLst/>
          </a:prstGeom>
          <a:solidFill>
            <a:srgbClr val="17253A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041648" y="1664208"/>
            <a:ext cx="7516368" cy="4572000"/>
          </a:xfrm>
          <a:prstGeom prst="roundRect">
            <a:avLst/>
          </a:prstGeom>
          <a:solidFill>
            <a:srgbClr val="17253A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100" b="1" i="0">
                <a:solidFill>
                  <a:srgbClr val="22C7D5"/>
                </a:solidFill>
                <a:latin typeface="Roboto Condensed"/>
              </a:rPr>
              <a:t>TEAM 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871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50" b="1" i="0">
                <a:solidFill>
                  <a:srgbClr val="A4B1C4"/>
                </a:solidFill>
                <a:latin typeface="Roboto Condensed"/>
              </a:rPr>
              <a:t>Team 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8716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80" b="0" i="0">
                <a:solidFill>
                  <a:srgbClr val="F4F7FA"/>
                </a:solidFill>
                <a:latin typeface="Roboto Condensed"/>
              </a:rPr>
              <a:t>DSCPP-III-2026-T384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4612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50" b="1" i="0">
                <a:solidFill>
                  <a:srgbClr val="A4B1C4"/>
                </a:solidFill>
                <a:latin typeface="Roboto Condensed"/>
              </a:rPr>
              <a:t>Semester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2461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80" b="0" i="0">
                <a:solidFill>
                  <a:srgbClr val="F4F7FA"/>
                </a:solidFill>
                <a:latin typeface="Roboto Condensed"/>
              </a:rPr>
              <a:t>3rd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00507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50" b="1" i="0">
                <a:solidFill>
                  <a:srgbClr val="A4B1C4"/>
                </a:solidFill>
                <a:latin typeface="Roboto Condensed"/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00507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80" b="0" i="0">
                <a:solidFill>
                  <a:srgbClr val="F4F7FA"/>
                </a:solidFill>
                <a:latin typeface="Roboto Condensed"/>
              </a:rPr>
              <a:t>X_ML4, X_ML4, X_ML4, X_I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764024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50" b="1" i="0">
                <a:solidFill>
                  <a:srgbClr val="A4B1C4"/>
                </a:solidFill>
                <a:latin typeface="Roboto Condensed"/>
              </a:rPr>
              <a:t>Domain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764024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80" b="0" i="0">
                <a:solidFill>
                  <a:srgbClr val="F4F7FA"/>
                </a:solidFill>
                <a:latin typeface="Roboto Condensed"/>
              </a:rPr>
              <a:t>FinTech / Currency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2" y="20116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100" b="1" i="0">
                <a:solidFill>
                  <a:srgbClr val="22C7D5"/>
                </a:solidFill>
                <a:latin typeface="Roboto Condensed"/>
              </a:rPr>
              <a:t>TEAM MEMBERS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0832" y="2441448"/>
            <a:ext cx="502920" cy="393192"/>
          </a:xfrm>
          <a:prstGeom prst="roundRect">
            <a:avLst/>
          </a:prstGeom>
          <a:solidFill>
            <a:srgbClr val="2E6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0832" y="2459736"/>
            <a:ext cx="502920" cy="33832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000" b="1" i="0">
                <a:solidFill>
                  <a:srgbClr val="F4F7FA"/>
                </a:solidFill>
                <a:latin typeface="Roboto Condensed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2441448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550" b="1" i="0">
                <a:solidFill>
                  <a:srgbClr val="F4F7FA"/>
                </a:solidFill>
                <a:latin typeface="Roboto Condensed"/>
              </a:rPr>
              <a:t>Dibyanshu Bahuguna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459736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 i="0">
                <a:solidFill>
                  <a:srgbClr val="A4B1C4"/>
                </a:solidFill>
                <a:latin typeface="Roboto Condensed"/>
              </a:rPr>
              <a:t>25103140124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3209544"/>
            <a:ext cx="502920" cy="393192"/>
          </a:xfrm>
          <a:prstGeom prst="roundRect">
            <a:avLst/>
          </a:prstGeom>
          <a:solidFill>
            <a:srgbClr val="2E6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0832" y="3227832"/>
            <a:ext cx="502920" cy="33832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000" b="1" i="0">
                <a:solidFill>
                  <a:srgbClr val="F4F7FA"/>
                </a:solidFill>
                <a:latin typeface="Roboto Condensed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3209544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550" b="1" i="0">
                <a:solidFill>
                  <a:srgbClr val="F4F7FA"/>
                </a:solidFill>
                <a:latin typeface="Roboto Condensed"/>
              </a:rPr>
              <a:t>Yash Negi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322783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 i="0">
                <a:solidFill>
                  <a:srgbClr val="A4B1C4"/>
                </a:solidFill>
                <a:latin typeface="Roboto Condensed"/>
              </a:rPr>
              <a:t>25101210673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0832" y="3977639"/>
            <a:ext cx="502920" cy="393192"/>
          </a:xfrm>
          <a:prstGeom prst="roundRect">
            <a:avLst/>
          </a:prstGeom>
          <a:solidFill>
            <a:srgbClr val="2E6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70832" y="3995927"/>
            <a:ext cx="502920" cy="33832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000" b="1" i="0">
                <a:solidFill>
                  <a:srgbClr val="F4F7FA"/>
                </a:solidFill>
                <a:latin typeface="Roboto Condensed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3977639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550" b="1" i="0">
                <a:solidFill>
                  <a:srgbClr val="F4F7FA"/>
                </a:solidFill>
                <a:latin typeface="Roboto Condensed"/>
              </a:rPr>
              <a:t>Saurabh Kumar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3995927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 i="0">
                <a:solidFill>
                  <a:srgbClr val="A4B1C4"/>
                </a:solidFill>
                <a:latin typeface="Roboto Condensed"/>
              </a:rPr>
              <a:t>25101210521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0832" y="4745736"/>
            <a:ext cx="502920" cy="393192"/>
          </a:xfrm>
          <a:prstGeom prst="roundRect">
            <a:avLst/>
          </a:prstGeom>
          <a:solidFill>
            <a:srgbClr val="2E6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70832" y="4764023"/>
            <a:ext cx="502920" cy="33832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000" b="1" i="0">
                <a:solidFill>
                  <a:srgbClr val="F4F7FA"/>
                </a:solidFill>
                <a:latin typeface="Roboto Condensed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4745736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550" b="1" i="0">
                <a:solidFill>
                  <a:srgbClr val="F4F7FA"/>
                </a:solidFill>
                <a:latin typeface="Roboto Condensed"/>
              </a:rPr>
              <a:t>Vineet Singh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4764023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 i="0">
                <a:solidFill>
                  <a:srgbClr val="A4B1C4"/>
                </a:solidFill>
                <a:latin typeface="Roboto Condensed"/>
              </a:rPr>
              <a:t>25101281836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55321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100" b="1" i="0">
                <a:solidFill>
                  <a:srgbClr val="22C7D5"/>
                </a:solidFill>
                <a:latin typeface="Roboto Condensed"/>
              </a:rPr>
              <a:t>MENTOR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54864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350" b="1" i="0">
                <a:solidFill>
                  <a:srgbClr val="F4F7FA"/>
                </a:solidFill>
                <a:latin typeface="Roboto Condensed"/>
              </a:rPr>
              <a:t>Mr Narayan Chaturvedi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E6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438912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100" b="1" i="0">
                <a:solidFill>
                  <a:srgbClr val="22C7D5"/>
                </a:solidFill>
                <a:latin typeface="Roboto Condensed"/>
              </a:rPr>
              <a:t>WHY THIS PROJECT?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795528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2800" b="1" i="0">
                <a:solidFill>
                  <a:srgbClr val="F4F7FA"/>
                </a:solidFill>
                <a:latin typeface="Roboto Condensed"/>
              </a:rPr>
              <a:t>Problem Statement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0233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1000" b="1" i="0">
                <a:solidFill>
                  <a:srgbClr val="A4B1C4"/>
                </a:solidFill>
                <a:latin typeface="Roboto Condensed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5138928" cy="4572000"/>
          </a:xfrm>
          <a:prstGeom prst="roundRect">
            <a:avLst/>
          </a:prstGeom>
          <a:solidFill>
            <a:srgbClr val="17253A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89320" y="1664208"/>
            <a:ext cx="5577840" cy="4572000"/>
          </a:xfrm>
          <a:prstGeom prst="roundRect">
            <a:avLst/>
          </a:prstGeom>
          <a:solidFill>
            <a:srgbClr val="17253A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9339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100" b="1" i="0">
                <a:solidFill>
                  <a:srgbClr val="F6A23A"/>
                </a:solidFill>
                <a:latin typeface="Roboto Condensed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95728"/>
            <a:ext cx="4389120" cy="12344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500" b="0" i="0">
                <a:solidFill>
                  <a:srgbClr val="F4F7FA"/>
                </a:solidFill>
                <a:latin typeface="Roboto Condensed"/>
              </a:rPr>
              <a:t>There can be several ways to convert one currency into another. In some cases, a sequence of conversions may result in more money than the original amount.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675887"/>
            <a:ext cx="4389120" cy="11155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450" b="0" i="0">
                <a:solidFill>
                  <a:srgbClr val="A4B1C4"/>
                </a:solidFill>
                <a:latin typeface="Roboto Condensed"/>
              </a:rPr>
              <a:t>However, a route that looks profitable at first may not be the best option. Transaction fees, market volatility and changing conditions can reduce the actual profit.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98348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100" b="1" i="0">
                <a:solidFill>
                  <a:srgbClr val="22C7D5"/>
                </a:solidFill>
                <a:latin typeface="Roboto Condensed"/>
              </a:rPr>
              <a:t>MAIN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5321808"/>
            <a:ext cx="4389120" cy="6583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550" b="1" i="0">
                <a:solidFill>
                  <a:srgbClr val="F4F7FA"/>
                </a:solidFill>
                <a:latin typeface="Roboto Condensed"/>
              </a:rPr>
              <a:t>Find possible profitable cycles and choose a route that remains suitable when conditions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9339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100" b="1" i="0">
                <a:solidFill>
                  <a:srgbClr val="2BB673"/>
                </a:solidFill>
                <a:latin typeface="Roboto Condensed"/>
              </a:rPr>
              <a:t>MOTIVATION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3160"/>
            <a:ext cx="4480560" cy="34290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spcAft>
                <a:spcPts val="864"/>
              </a:spcAft>
              <a:defRPr sz="1500">
                <a:solidFill>
                  <a:srgbClr val="F4F7FA"/>
                </a:solidFill>
                <a:latin typeface="Roboto Condensed"/>
              </a:defRPr>
            </a:pPr>
            <a:r>
              <a:t>• Find arbitrage opportunities systematically</a:t>
            </a:r>
          </a:p>
          <a:p>
            <a:pPr>
              <a:spcAft>
                <a:spcPts val="864"/>
              </a:spcAft>
              <a:defRPr sz="1500">
                <a:solidFill>
                  <a:srgbClr val="F4F7FA"/>
                </a:solidFill>
                <a:latin typeface="Roboto Condensed"/>
              </a:defRPr>
            </a:pPr>
            <a:r>
              <a:t>• Compare different conversion routes</a:t>
            </a:r>
          </a:p>
          <a:p>
            <a:pPr>
              <a:spcAft>
                <a:spcPts val="864"/>
              </a:spcAft>
              <a:defRPr sz="1500">
                <a:solidFill>
                  <a:srgbClr val="F4F7FA"/>
                </a:solidFill>
                <a:latin typeface="Roboto Condensed"/>
              </a:defRPr>
            </a:pPr>
            <a:r>
              <a:t>• Include fees and market volatility</a:t>
            </a:r>
          </a:p>
          <a:p>
            <a:pPr>
              <a:spcAft>
                <a:spcPts val="864"/>
              </a:spcAft>
              <a:defRPr sz="1500">
                <a:solidFill>
                  <a:srgbClr val="F4F7FA"/>
                </a:solidFill>
                <a:latin typeface="Roboto Condensed"/>
              </a:defRPr>
            </a:pPr>
            <a:r>
              <a:t>• Score routes using current conditions</a:t>
            </a:r>
          </a:p>
          <a:p>
            <a:pPr>
              <a:spcAft>
                <a:spcPts val="864"/>
              </a:spcAft>
              <a:defRPr sz="1500">
                <a:solidFill>
                  <a:srgbClr val="F4F7FA"/>
                </a:solidFill>
                <a:latin typeface="Roboto Condensed"/>
              </a:defRPr>
            </a:pPr>
            <a:r>
              <a:t>• Demonstrate DSA through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E6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438912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100" b="1" i="0">
                <a:solidFill>
                  <a:srgbClr val="22C7D5"/>
                </a:solidFill>
                <a:latin typeface="Roboto Condensed"/>
              </a:rPr>
              <a:t>WHAT WE AIM TO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795528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2800" b="1" i="0">
                <a:solidFill>
                  <a:srgbClr val="F4F7FA"/>
                </a:solidFill>
                <a:latin typeface="Roboto Condensed"/>
              </a:rP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0233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1000" b="1" i="0">
                <a:solidFill>
                  <a:srgbClr val="A4B1C4"/>
                </a:solidFill>
                <a:latin typeface="Roboto Condensed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3154680" cy="1783080"/>
          </a:xfrm>
          <a:prstGeom prst="roundRect">
            <a:avLst/>
          </a:prstGeom>
          <a:solidFill>
            <a:srgbClr val="17253A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438912" cy="384048"/>
          </a:xfrm>
          <a:prstGeom prst="roundRect">
            <a:avLst/>
          </a:prstGeom>
          <a:solidFill>
            <a:srgbClr val="2E6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4812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050" b="1" i="0">
                <a:solidFill>
                  <a:srgbClr val="F4F7FA"/>
                </a:solidFill>
                <a:latin typeface="Roboto Condense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96312"/>
            <a:ext cx="278892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450" b="1" i="0">
                <a:solidFill>
                  <a:srgbClr val="F4F7FA"/>
                </a:solidFill>
                <a:latin typeface="Roboto Condensed"/>
              </a:rPr>
              <a:t>Represent currencies as a 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90088"/>
            <a:ext cx="2788920" cy="36575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 i="0">
                <a:solidFill>
                  <a:srgbClr val="A4B1C4"/>
                </a:solidFill>
                <a:latin typeface="Roboto Condensed"/>
              </a:rPr>
              <a:t>Currencies are nodes and conversions are directed weighted edges.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41648" y="1737360"/>
            <a:ext cx="3154680" cy="1783080"/>
          </a:xfrm>
          <a:prstGeom prst="roundRect">
            <a:avLst/>
          </a:prstGeom>
          <a:solidFill>
            <a:srgbClr val="17253A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24528" y="1920240"/>
            <a:ext cx="438912" cy="384048"/>
          </a:xfrm>
          <a:prstGeom prst="roundRect">
            <a:avLst/>
          </a:prstGeom>
          <a:solidFill>
            <a:srgbClr val="2E6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24528" y="1924812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050" b="1" i="0">
                <a:solidFill>
                  <a:srgbClr val="F4F7FA"/>
                </a:solidFill>
                <a:latin typeface="Roboto Condense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2496312"/>
            <a:ext cx="278892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450" b="1" i="0">
                <a:solidFill>
                  <a:srgbClr val="F4F7FA"/>
                </a:solidFill>
                <a:latin typeface="Roboto Condensed"/>
              </a:rPr>
              <a:t>Find arbitrage cycles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2990088"/>
            <a:ext cx="2788920" cy="36575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 i="0">
                <a:solidFill>
                  <a:srgbClr val="A4B1C4"/>
                </a:solidFill>
                <a:latin typeface="Roboto Condensed"/>
              </a:rPr>
              <a:t>Search for cycles that can provide a positive effective return.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88936" y="1737360"/>
            <a:ext cx="3154680" cy="1783080"/>
          </a:xfrm>
          <a:prstGeom prst="roundRect">
            <a:avLst/>
          </a:prstGeom>
          <a:solidFill>
            <a:srgbClr val="17253A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71815" y="1920240"/>
            <a:ext cx="438912" cy="384048"/>
          </a:xfrm>
          <a:prstGeom prst="roundRect">
            <a:avLst/>
          </a:prstGeom>
          <a:solidFill>
            <a:srgbClr val="2E6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71815" y="1924812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050" b="1" i="0">
                <a:solidFill>
                  <a:srgbClr val="F4F7FA"/>
                </a:solidFill>
                <a:latin typeface="Roboto Condense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71815" y="2496312"/>
            <a:ext cx="278892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450" b="1" i="0">
                <a:solidFill>
                  <a:srgbClr val="F4F7FA"/>
                </a:solidFill>
                <a:latin typeface="Roboto Condensed"/>
              </a:rPr>
              <a:t>Consider market conditions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71815" y="2990088"/>
            <a:ext cx="2788920" cy="36575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 i="0">
                <a:solidFill>
                  <a:srgbClr val="A4B1C4"/>
                </a:solidFill>
                <a:latin typeface="Roboto Condensed"/>
              </a:rPr>
              <a:t>Use volatility, fees, liquidity and number of conversions.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886200"/>
            <a:ext cx="3154680" cy="1783080"/>
          </a:xfrm>
          <a:prstGeom prst="roundRect">
            <a:avLst/>
          </a:prstGeom>
          <a:solidFill>
            <a:srgbClr val="17253A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069080"/>
            <a:ext cx="438912" cy="384048"/>
          </a:xfrm>
          <a:prstGeom prst="round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073652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050" b="1" i="0">
                <a:solidFill>
                  <a:srgbClr val="F4F7FA"/>
                </a:solidFill>
                <a:latin typeface="Roboto Condense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645152"/>
            <a:ext cx="278892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450" b="1" i="0">
                <a:solidFill>
                  <a:srgbClr val="F4F7FA"/>
                </a:solidFill>
                <a:latin typeface="Roboto Condensed"/>
              </a:rPr>
              <a:t>Select the best route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138928"/>
            <a:ext cx="2788920" cy="36575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 i="0">
                <a:solidFill>
                  <a:srgbClr val="A4B1C4"/>
                </a:solidFill>
                <a:latin typeface="Roboto Condensed"/>
              </a:rPr>
              <a:t>Compare route scores and choose the strongest overall result.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41648" y="3886200"/>
            <a:ext cx="3154680" cy="1783080"/>
          </a:xfrm>
          <a:prstGeom prst="roundRect">
            <a:avLst/>
          </a:prstGeom>
          <a:solidFill>
            <a:srgbClr val="17253A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24528" y="4069080"/>
            <a:ext cx="438912" cy="384048"/>
          </a:xfrm>
          <a:prstGeom prst="round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24528" y="4073652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050" b="1" i="0">
                <a:solidFill>
                  <a:srgbClr val="F4F7FA"/>
                </a:solidFill>
                <a:latin typeface="Roboto Condensed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24528" y="4645152"/>
            <a:ext cx="278892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450" b="1" i="0">
                <a:solidFill>
                  <a:srgbClr val="F4F7FA"/>
                </a:solidFill>
                <a:latin typeface="Roboto Condensed"/>
              </a:rPr>
              <a:t>Simulate different situations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24528" y="5138928"/>
            <a:ext cx="2788920" cy="36575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 i="0">
                <a:solidFill>
                  <a:srgbClr val="A4B1C4"/>
                </a:solidFill>
                <a:latin typeface="Roboto Condensed"/>
              </a:rPr>
              <a:t>Test normal, volatile, high-fee and stressed markets.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88936" y="3886200"/>
            <a:ext cx="3154680" cy="1783080"/>
          </a:xfrm>
          <a:prstGeom prst="roundRect">
            <a:avLst/>
          </a:prstGeom>
          <a:solidFill>
            <a:srgbClr val="17253A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671815" y="4069080"/>
            <a:ext cx="438912" cy="384048"/>
          </a:xfrm>
          <a:prstGeom prst="round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71815" y="4073652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050" b="1" i="0">
                <a:solidFill>
                  <a:srgbClr val="F4F7FA"/>
                </a:solidFill>
                <a:latin typeface="Roboto Condensed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71815" y="4645152"/>
            <a:ext cx="278892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450" b="1" i="0">
                <a:solidFill>
                  <a:srgbClr val="F4F7FA"/>
                </a:solidFill>
                <a:latin typeface="Roboto Condensed"/>
              </a:rPr>
              <a:t>Implement DSA in 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71815" y="5138928"/>
            <a:ext cx="2788920" cy="36575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 i="0">
                <a:solidFill>
                  <a:srgbClr val="A4B1C4"/>
                </a:solidFill>
                <a:latin typeface="Roboto Condensed"/>
              </a:rPr>
              <a:t>Use arrays, structures, graphs, queues/priority queues, hashing and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E6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438912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100" b="1" i="0">
                <a:solidFill>
                  <a:srgbClr val="22C7D5"/>
                </a:solidFill>
                <a:latin typeface="Roboto Condensed"/>
              </a:rPr>
              <a:t>SYSTEM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795528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2800" b="1" i="0">
                <a:solidFill>
                  <a:srgbClr val="F4F7FA"/>
                </a:solidFill>
                <a:latin typeface="Roboto Condensed"/>
              </a:rP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0233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1000" b="1" i="0">
                <a:solidFill>
                  <a:srgbClr val="A4B1C4"/>
                </a:solidFill>
                <a:latin typeface="Roboto Condensed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11680"/>
            <a:ext cx="1719072" cy="2423160"/>
          </a:xfrm>
          <a:prstGeom prst="roundRect">
            <a:avLst/>
          </a:prstGeom>
          <a:solidFill>
            <a:srgbClr val="17253A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94560"/>
            <a:ext cx="438912" cy="384048"/>
          </a:xfrm>
          <a:prstGeom prst="roundRect">
            <a:avLst/>
          </a:prstGeom>
          <a:solidFill>
            <a:srgbClr val="2E6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99132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050" b="1" i="0">
                <a:solidFill>
                  <a:srgbClr val="F4F7FA"/>
                </a:solidFill>
                <a:latin typeface="Roboto Condense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70632"/>
            <a:ext cx="1353312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350" b="1" i="0">
                <a:solidFill>
                  <a:srgbClr val="F4F7FA"/>
                </a:solidFill>
                <a:latin typeface="Roboto Condensed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64408"/>
            <a:ext cx="1353312" cy="100583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 i="0">
                <a:solidFill>
                  <a:srgbClr val="A4B1C4"/>
                </a:solidFill>
                <a:latin typeface="Roboto Condensed"/>
              </a:rPr>
              <a:t>Currency rates, transaction fees and market conditions.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13432" y="3218688"/>
            <a:ext cx="256031" cy="0"/>
          </a:xfrm>
          <a:prstGeom prst="line">
            <a:avLst/>
          </a:prstGeom>
          <a:ln w="20320">
            <a:solidFill>
              <a:srgbClr val="22C7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569464" y="2011680"/>
            <a:ext cx="1719072" cy="2423160"/>
          </a:xfrm>
          <a:prstGeom prst="roundRect">
            <a:avLst/>
          </a:prstGeom>
          <a:solidFill>
            <a:srgbClr val="17253A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52344" y="2194560"/>
            <a:ext cx="438912" cy="384048"/>
          </a:xfrm>
          <a:prstGeom prst="roundRect">
            <a:avLst/>
          </a:prstGeom>
          <a:solidFill>
            <a:srgbClr val="22C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52344" y="2199132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050" b="1" i="0">
                <a:solidFill>
                  <a:srgbClr val="F4F7FA"/>
                </a:solidFill>
                <a:latin typeface="Roboto Condense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2344" y="2770632"/>
            <a:ext cx="1353312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350" b="1" i="0">
                <a:solidFill>
                  <a:srgbClr val="F4F7FA"/>
                </a:solidFill>
                <a:latin typeface="Roboto Condensed"/>
              </a:rPr>
              <a:t>BUILD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2344" y="3264408"/>
            <a:ext cx="1353312" cy="100583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 i="0">
                <a:solidFill>
                  <a:srgbClr val="A4B1C4"/>
                </a:solidFill>
                <a:latin typeface="Roboto Condensed"/>
              </a:rPr>
              <a:t>Create a weighted currency network from currencies and conversion rates.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88536" y="3218688"/>
            <a:ext cx="256032" cy="0"/>
          </a:xfrm>
          <a:prstGeom prst="line">
            <a:avLst/>
          </a:prstGeom>
          <a:ln w="20320">
            <a:solidFill>
              <a:srgbClr val="22C7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544568" y="2011680"/>
            <a:ext cx="1719072" cy="2423160"/>
          </a:xfrm>
          <a:prstGeom prst="roundRect">
            <a:avLst/>
          </a:prstGeom>
          <a:solidFill>
            <a:srgbClr val="17253A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27448" y="2194560"/>
            <a:ext cx="438912" cy="384048"/>
          </a:xfrm>
          <a:prstGeom prst="round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27448" y="2199132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050" b="1" i="0">
                <a:solidFill>
                  <a:srgbClr val="F4F7FA"/>
                </a:solidFill>
                <a:latin typeface="Roboto Condense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7448" y="2770632"/>
            <a:ext cx="1353312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350" b="1" i="0">
                <a:solidFill>
                  <a:srgbClr val="F4F7FA"/>
                </a:solidFill>
                <a:latin typeface="Roboto Condensed"/>
              </a:rPr>
              <a:t>FIND ARBITRAGE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7448" y="3264408"/>
            <a:ext cx="1353312" cy="100583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 i="0">
                <a:solidFill>
                  <a:srgbClr val="A4B1C4"/>
                </a:solidFill>
                <a:latin typeface="Roboto Condensed"/>
              </a:rPr>
              <a:t>Check the graph for possible profitable currency cycles.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263640" y="3218688"/>
            <a:ext cx="256032" cy="0"/>
          </a:xfrm>
          <a:prstGeom prst="line">
            <a:avLst/>
          </a:prstGeom>
          <a:ln w="20320">
            <a:solidFill>
              <a:srgbClr val="22C7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519672" y="2011680"/>
            <a:ext cx="1719072" cy="2423160"/>
          </a:xfrm>
          <a:prstGeom prst="roundRect">
            <a:avLst/>
          </a:prstGeom>
          <a:solidFill>
            <a:srgbClr val="17253A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702552" y="2194560"/>
            <a:ext cx="438912" cy="384048"/>
          </a:xfrm>
          <a:prstGeom prst="roundRect">
            <a:avLst/>
          </a:prstGeom>
          <a:solidFill>
            <a:srgbClr val="F6A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02552" y="2199132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050" b="1" i="0">
                <a:solidFill>
                  <a:srgbClr val="F4F7FA"/>
                </a:solidFill>
                <a:latin typeface="Roboto Condensed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2552" y="2770632"/>
            <a:ext cx="1353312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350" b="1" i="0">
                <a:solidFill>
                  <a:srgbClr val="F4F7FA"/>
                </a:solidFill>
                <a:latin typeface="Roboto Condensed"/>
              </a:rPr>
              <a:t>ADJUST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2552" y="3264408"/>
            <a:ext cx="1353312" cy="100583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 i="0">
                <a:solidFill>
                  <a:srgbClr val="A4B1C4"/>
                </a:solidFill>
                <a:latin typeface="Roboto Condensed"/>
              </a:rPr>
              <a:t>Apply fees and market-condition penalties such as volatility and liquidity.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38744" y="3218688"/>
            <a:ext cx="256032" cy="0"/>
          </a:xfrm>
          <a:prstGeom prst="line">
            <a:avLst/>
          </a:prstGeom>
          <a:ln w="20320">
            <a:solidFill>
              <a:srgbClr val="22C7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494776" y="2011680"/>
            <a:ext cx="1719072" cy="2423160"/>
          </a:xfrm>
          <a:prstGeom prst="roundRect">
            <a:avLst/>
          </a:prstGeom>
          <a:solidFill>
            <a:srgbClr val="17253A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677656" y="2194560"/>
            <a:ext cx="438912" cy="384048"/>
          </a:xfrm>
          <a:prstGeom prst="roundRect">
            <a:avLst/>
          </a:prstGeom>
          <a:solidFill>
            <a:srgbClr val="2E6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77656" y="2199132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050" b="1" i="0">
                <a:solidFill>
                  <a:srgbClr val="F4F7FA"/>
                </a:solidFill>
                <a:latin typeface="Roboto Condensed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77656" y="2770632"/>
            <a:ext cx="1353312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350" b="1" i="0">
                <a:solidFill>
                  <a:srgbClr val="F4F7FA"/>
                </a:solidFill>
                <a:latin typeface="Roboto Condensed"/>
              </a:rPr>
              <a:t>RANK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77656" y="3264408"/>
            <a:ext cx="1353312" cy="100583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 i="0">
                <a:solidFill>
                  <a:srgbClr val="A4B1C4"/>
                </a:solidFill>
                <a:latin typeface="Roboto Condensed"/>
              </a:rPr>
              <a:t>Calculate scores and compare candidate routes.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213848" y="3218688"/>
            <a:ext cx="256032" cy="0"/>
          </a:xfrm>
          <a:prstGeom prst="line">
            <a:avLst/>
          </a:prstGeom>
          <a:ln w="20320">
            <a:solidFill>
              <a:srgbClr val="22C7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469880" y="2011680"/>
            <a:ext cx="1719072" cy="2423160"/>
          </a:xfrm>
          <a:prstGeom prst="roundRect">
            <a:avLst/>
          </a:prstGeom>
          <a:solidFill>
            <a:srgbClr val="17253A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652760" y="2194560"/>
            <a:ext cx="438912" cy="384048"/>
          </a:xfrm>
          <a:prstGeom prst="round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52760" y="2199132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sz="1050" b="1" i="0">
                <a:solidFill>
                  <a:srgbClr val="F4F7FA"/>
                </a:solidFill>
                <a:latin typeface="Roboto Condensed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52760" y="2770632"/>
            <a:ext cx="1353312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350" b="1" i="0">
                <a:solidFill>
                  <a:srgbClr val="F4F7FA"/>
                </a:solidFill>
                <a:latin typeface="Roboto Condensed"/>
              </a:rPr>
              <a:t>OUTPUT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52760" y="3264408"/>
            <a:ext cx="1353312" cy="100583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 i="0">
                <a:solidFill>
                  <a:srgbClr val="A4B1C4"/>
                </a:solidFill>
                <a:latin typeface="Roboto Condensed"/>
              </a:rPr>
              <a:t>Display the best route and its expected return.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" y="498348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1" i="0">
                <a:solidFill>
                  <a:srgbClr val="22C7D5"/>
                </a:solidFill>
                <a:latin typeface="Roboto Condensed"/>
              </a:rPr>
              <a:t>KEY IDEA: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74519" y="4956048"/>
            <a:ext cx="9144000" cy="4389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450" b="1" i="0">
                <a:solidFill>
                  <a:srgbClr val="F4F7FA"/>
                </a:solidFill>
                <a:latin typeface="Roboto Condensed"/>
              </a:rPr>
              <a:t>The route with the highest raw profit is not always the best route — the system also considers market conditions.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874519" y="5532120"/>
            <a:ext cx="2331720" cy="658368"/>
          </a:xfrm>
          <a:prstGeom prst="roundRect">
            <a:avLst/>
          </a:prstGeom>
          <a:solidFill>
            <a:srgbClr val="1B2A41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75688" y="5614416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500" b="1" i="0">
                <a:solidFill>
                  <a:srgbClr val="2BB673"/>
                </a:solidFill>
                <a:latin typeface="Roboto Condensed"/>
              </a:rPr>
              <a:t>PROFIT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88920" y="565099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50" b="0" i="0">
                <a:solidFill>
                  <a:srgbClr val="A4B1C4"/>
                </a:solidFill>
                <a:latin typeface="Roboto Condensed"/>
              </a:rPr>
              <a:t>gross return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63440" y="5532120"/>
            <a:ext cx="2331720" cy="658368"/>
          </a:xfrm>
          <a:prstGeom prst="roundRect">
            <a:avLst/>
          </a:prstGeom>
          <a:solidFill>
            <a:srgbClr val="1B2A41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64607" y="5614416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500" b="1" i="0">
                <a:solidFill>
                  <a:srgbClr val="F6A23A"/>
                </a:solidFill>
                <a:latin typeface="Roboto Condensed"/>
              </a:rPr>
              <a:t>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77840" y="565099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50" b="0" i="0">
                <a:solidFill>
                  <a:srgbClr val="A4B1C4"/>
                </a:solidFill>
                <a:latin typeface="Roboto Condensed"/>
              </a:rPr>
              <a:t>volatility impact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452359" y="5532120"/>
            <a:ext cx="2331720" cy="658368"/>
          </a:xfrm>
          <a:prstGeom prst="roundRect">
            <a:avLst/>
          </a:prstGeom>
          <a:solidFill>
            <a:srgbClr val="1B2A41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53527" y="5614416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500" b="1" i="0">
                <a:solidFill>
                  <a:srgbClr val="EF5B68"/>
                </a:solidFill>
                <a:latin typeface="Roboto Condensed"/>
              </a:rPr>
              <a:t>COST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59" y="565099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50" b="0" i="0">
                <a:solidFill>
                  <a:srgbClr val="A4B1C4"/>
                </a:solidFill>
                <a:latin typeface="Roboto Condensed"/>
              </a:rPr>
              <a:t>fees / slippage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E6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438912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100" b="1" i="0">
                <a:solidFill>
                  <a:srgbClr val="22C7D5"/>
                </a:solidFill>
                <a:latin typeface="Roboto Condensed"/>
              </a:rPr>
              <a:t>CORE TECHNICAL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795528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2800" b="1" i="0">
                <a:solidFill>
                  <a:srgbClr val="F4F7FA"/>
                </a:solidFill>
                <a:latin typeface="Roboto Condensed"/>
              </a:rPr>
              <a:t>DSA Integration in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0233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1000" b="1" i="0">
                <a:solidFill>
                  <a:srgbClr val="A4B1C4"/>
                </a:solidFill>
                <a:latin typeface="Roboto Condensed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3154680" cy="1783080"/>
          </a:xfrm>
          <a:prstGeom prst="roundRect">
            <a:avLst/>
          </a:prstGeom>
          <a:solidFill>
            <a:srgbClr val="17253A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1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100" b="1" i="0">
                <a:solidFill>
                  <a:srgbClr val="2E6EEA"/>
                </a:solidFill>
                <a:latin typeface="Roboto Condensed"/>
              </a:rPr>
              <a:t>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2578608" cy="6583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80" b="0" i="0">
                <a:solidFill>
                  <a:srgbClr val="A4B1C4"/>
                </a:solidFill>
                <a:latin typeface="Roboto Condensed"/>
              </a:rPr>
              <a:t>Store the currency network using an adjacency matrix or adjacency list.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41648" y="1737360"/>
            <a:ext cx="3154680" cy="1783080"/>
          </a:xfrm>
          <a:prstGeom prst="roundRect">
            <a:avLst/>
          </a:prstGeom>
          <a:solidFill>
            <a:srgbClr val="17253A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5968" y="1993391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100" b="1" i="0">
                <a:solidFill>
                  <a:srgbClr val="22C7D5"/>
                </a:solidFill>
                <a:latin typeface="Roboto Condensed"/>
              </a:rPr>
              <a:t>BELLMAN-FORD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2487168"/>
            <a:ext cx="2578608" cy="6583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80" b="0" i="0">
                <a:solidFill>
                  <a:srgbClr val="A4B1C4"/>
                </a:solidFill>
                <a:latin typeface="Roboto Condensed"/>
              </a:rPr>
              <a:t>Use the negative-cycle approach to detect arbitrage after log transformation.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88936" y="1737360"/>
            <a:ext cx="3154680" cy="1783080"/>
          </a:xfrm>
          <a:prstGeom prst="roundRect">
            <a:avLst/>
          </a:prstGeom>
          <a:solidFill>
            <a:srgbClr val="17253A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63256" y="1993391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100" b="1" i="0">
                <a:solidFill>
                  <a:srgbClr val="2BB673"/>
                </a:solidFill>
                <a:latin typeface="Roboto Condensed"/>
              </a:rPr>
              <a:t>DIJKSTRA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63256" y="2487168"/>
            <a:ext cx="2578608" cy="6583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80" b="0" i="0">
                <a:solidFill>
                  <a:srgbClr val="A4B1C4"/>
                </a:solidFill>
                <a:latin typeface="Roboto Condensed"/>
              </a:rPr>
              <a:t>Find efficient paths when route costs are defined by the scoring model.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886200"/>
            <a:ext cx="3154680" cy="1783080"/>
          </a:xfrm>
          <a:prstGeom prst="roundRect">
            <a:avLst/>
          </a:prstGeom>
          <a:solidFill>
            <a:srgbClr val="17253A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4223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100" b="1" i="0">
                <a:solidFill>
                  <a:srgbClr val="F6A23A"/>
                </a:solidFill>
                <a:latin typeface="Roboto Condensed"/>
              </a:rPr>
              <a:t>PRIORITY QUEUE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36008"/>
            <a:ext cx="2578608" cy="6583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80" b="0" i="0">
                <a:solidFill>
                  <a:srgbClr val="A4B1C4"/>
                </a:solidFill>
                <a:latin typeface="Roboto Condensed"/>
              </a:rPr>
              <a:t>Process candidate routes according to their scores.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41648" y="3886200"/>
            <a:ext cx="3154680" cy="1783080"/>
          </a:xfrm>
          <a:prstGeom prst="roundRect">
            <a:avLst/>
          </a:prstGeom>
          <a:solidFill>
            <a:srgbClr val="17253A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15968" y="414223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100" b="1" i="0">
                <a:solidFill>
                  <a:srgbClr val="2E6EEA"/>
                </a:solidFill>
                <a:latin typeface="Roboto Condensed"/>
              </a:rPr>
              <a:t>HASHING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4636008"/>
            <a:ext cx="2578608" cy="6583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80" b="0" i="0">
                <a:solidFill>
                  <a:srgbClr val="A4B1C4"/>
                </a:solidFill>
                <a:latin typeface="Roboto Condensed"/>
              </a:rPr>
              <a:t>Quickly map currency codes to records and market-condition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88936" y="3886200"/>
            <a:ext cx="3154680" cy="1783080"/>
          </a:xfrm>
          <a:prstGeom prst="roundRect">
            <a:avLst/>
          </a:prstGeom>
          <a:solidFill>
            <a:srgbClr val="17253A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63256" y="414223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100" b="1" i="0">
                <a:solidFill>
                  <a:srgbClr val="22C7D5"/>
                </a:solidFill>
                <a:latin typeface="Roboto Condensed"/>
              </a:rPr>
              <a:t>SORTING + SEARCHING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63256" y="4636008"/>
            <a:ext cx="2578608" cy="6583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80" b="0" i="0">
                <a:solidFill>
                  <a:srgbClr val="A4B1C4"/>
                </a:solidFill>
                <a:latin typeface="Roboto Condensed"/>
              </a:rPr>
              <a:t>Rank opportunities and locate currency or route records.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E6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438912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100" b="1" i="0">
                <a:solidFill>
                  <a:srgbClr val="22C7D5"/>
                </a:solidFill>
                <a:latin typeface="Roboto Condensed"/>
              </a:rPr>
              <a:t>OUR DIFFERENTIATING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795528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2800" b="1" i="0">
                <a:solidFill>
                  <a:srgbClr val="F4F7FA"/>
                </a:solidFill>
                <a:latin typeface="Roboto Condensed"/>
              </a:rPr>
              <a:t>Market-Condition-Aware Route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0233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1000" b="1" i="0">
                <a:solidFill>
                  <a:srgbClr val="A4B1C4"/>
                </a:solidFill>
                <a:latin typeface="Roboto Condensed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86200" y="1874519"/>
            <a:ext cx="4434840" cy="3840480"/>
          </a:xfrm>
          <a:prstGeom prst="roundRect">
            <a:avLst/>
          </a:prstGeom>
          <a:solidFill>
            <a:srgbClr val="1B2A41"/>
          </a:solidFill>
          <a:ln w="10160">
            <a:solidFill>
              <a:srgbClr val="22C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13248" y="23317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100" b="1" i="0">
                <a:solidFill>
                  <a:srgbClr val="22C7D5"/>
                </a:solidFill>
                <a:latin typeface="Roboto Condensed"/>
              </a:rPr>
              <a:t>ROUTE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70832" y="2907792"/>
            <a:ext cx="3429000" cy="9601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2000" b="1" i="0">
                <a:solidFill>
                  <a:srgbClr val="F4F7FA"/>
                </a:solidFill>
                <a:latin typeface="Roboto Condensed"/>
              </a:rPr>
              <a:t>Expected Return
− Fees − Risk Penalty − Slippage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407408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400" b="1" i="0">
                <a:solidFill>
                  <a:srgbClr val="2BB673"/>
                </a:solidFill>
                <a:latin typeface="Roboto Condensed"/>
              </a:rPr>
              <a:t>Higher score  →  stronger candidate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2514600" cy="1325880"/>
          </a:xfrm>
          <a:prstGeom prst="roundRect">
            <a:avLst/>
          </a:prstGeom>
          <a:solidFill>
            <a:srgbClr val="17253A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08483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100" b="1" i="0">
                <a:solidFill>
                  <a:srgbClr val="F6A23A"/>
                </a:solidFill>
                <a:latin typeface="Roboto Condensed"/>
              </a:rPr>
              <a:t>VOLATILITY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523744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50" b="0" i="0">
                <a:solidFill>
                  <a:srgbClr val="A4B1C4"/>
                </a:solidFill>
                <a:latin typeface="Roboto Condensed"/>
              </a:rPr>
              <a:t>Penalize unstable routes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828800"/>
            <a:ext cx="2514600" cy="1325880"/>
          </a:xfrm>
          <a:prstGeom prst="roundRect">
            <a:avLst/>
          </a:prstGeom>
          <a:solidFill>
            <a:srgbClr val="17253A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9992" y="208483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100" b="1" i="0">
                <a:solidFill>
                  <a:srgbClr val="2BB673"/>
                </a:solidFill>
                <a:latin typeface="Roboto Condensed"/>
              </a:rPr>
              <a:t>LIQUIDITY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9992" y="2523744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50" b="0" i="0">
                <a:solidFill>
                  <a:srgbClr val="A4B1C4"/>
                </a:solidFill>
                <a:latin typeface="Roboto Condensed"/>
              </a:rPr>
              <a:t>Prefer routes that are easier to execute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617720"/>
            <a:ext cx="2514600" cy="1325880"/>
          </a:xfrm>
          <a:prstGeom prst="roundRect">
            <a:avLst/>
          </a:prstGeom>
          <a:solidFill>
            <a:srgbClr val="17253A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487375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100" b="1" i="0">
                <a:solidFill>
                  <a:srgbClr val="EF5B68"/>
                </a:solidFill>
                <a:latin typeface="Roboto Condensed"/>
              </a:rPr>
              <a:t>FEES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5312664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50" b="0" i="0">
                <a:solidFill>
                  <a:srgbClr val="A4B1C4"/>
                </a:solidFill>
                <a:latin typeface="Roboto Condensed"/>
              </a:rPr>
              <a:t>Remove low-margin cycles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4617720"/>
            <a:ext cx="2514600" cy="1325880"/>
          </a:xfrm>
          <a:prstGeom prst="roundRect">
            <a:avLst/>
          </a:prstGeom>
          <a:solidFill>
            <a:srgbClr val="17253A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9992" y="487375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100" b="1" i="0">
                <a:solidFill>
                  <a:srgbClr val="2E6EEA"/>
                </a:solidFill>
                <a:latin typeface="Roboto Condensed"/>
              </a:rPr>
              <a:t>PATH LENGTH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5312664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50" b="0" i="0">
                <a:solidFill>
                  <a:srgbClr val="A4B1C4"/>
                </a:solidFill>
                <a:latin typeface="Roboto Condensed"/>
              </a:rPr>
              <a:t>Avoid unnecessary conversions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108960" y="2487168"/>
            <a:ext cx="777240" cy="118872"/>
          </a:xfrm>
          <a:prstGeom prst="line">
            <a:avLst/>
          </a:prstGeom>
          <a:ln w="17780">
            <a:solidFill>
              <a:srgbClr val="22C7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8321040" y="2487168"/>
            <a:ext cx="502920" cy="118872"/>
          </a:xfrm>
          <a:prstGeom prst="line">
            <a:avLst/>
          </a:prstGeom>
          <a:ln w="17780">
            <a:solidFill>
              <a:srgbClr val="22C7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108960" y="4709160"/>
            <a:ext cx="777240" cy="521208"/>
          </a:xfrm>
          <a:prstGeom prst="line">
            <a:avLst/>
          </a:prstGeom>
          <a:ln w="17780">
            <a:solidFill>
              <a:srgbClr val="22C7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8321040" y="4709160"/>
            <a:ext cx="502920" cy="521208"/>
          </a:xfrm>
          <a:prstGeom prst="line">
            <a:avLst/>
          </a:prstGeom>
          <a:ln w="17780">
            <a:solidFill>
              <a:srgbClr val="22C7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E6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438912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100" b="1" i="0">
                <a:solidFill>
                  <a:srgbClr val="22C7D5"/>
                </a:solidFill>
                <a:latin typeface="Roboto Condensed"/>
              </a:rPr>
              <a:t>FROM MARKET DATA TO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795528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2800" b="1" i="0">
                <a:solidFill>
                  <a:srgbClr val="F4F7FA"/>
                </a:solidFill>
                <a:latin typeface="Roboto Condensed"/>
              </a:rPr>
              <a:t>System Architecture &amp;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0233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1000" b="1" i="0">
                <a:solidFill>
                  <a:srgbClr val="A4B1C4"/>
                </a:solidFill>
                <a:latin typeface="Roboto Condensed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2331720" cy="1325880"/>
          </a:xfrm>
          <a:prstGeom prst="roundRect">
            <a:avLst/>
          </a:prstGeom>
          <a:solidFill>
            <a:srgbClr val="17253A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84248"/>
            <a:ext cx="1874519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100" b="1" i="0">
                <a:solidFill>
                  <a:srgbClr val="2E6EEA"/>
                </a:solidFill>
                <a:latin typeface="Roboto Condensed"/>
              </a:rPr>
              <a:t>MARKET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32304"/>
            <a:ext cx="1874519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 i="0">
                <a:solidFill>
                  <a:srgbClr val="A4B1C4"/>
                </a:solidFill>
                <a:latin typeface="Roboto Condensed"/>
              </a:rPr>
              <a:t>Rates • Fees • Market Conditions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79" y="2395728"/>
            <a:ext cx="256032" cy="0"/>
          </a:xfrm>
          <a:prstGeom prst="line">
            <a:avLst/>
          </a:prstGeom>
          <a:ln w="20320">
            <a:solidFill>
              <a:srgbClr val="22C7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182112" y="1737360"/>
            <a:ext cx="2331720" cy="1325880"/>
          </a:xfrm>
          <a:prstGeom prst="roundRect">
            <a:avLst/>
          </a:prstGeom>
          <a:solidFill>
            <a:srgbClr val="17253A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6432" y="1984248"/>
            <a:ext cx="1874519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100" b="1" i="0">
                <a:solidFill>
                  <a:srgbClr val="22C7D5"/>
                </a:solidFill>
                <a:latin typeface="Roboto Condensed"/>
              </a:rPr>
              <a:t>CURRENCY 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2432304"/>
            <a:ext cx="1874519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 i="0">
                <a:solidFill>
                  <a:srgbClr val="A4B1C4"/>
                </a:solidFill>
                <a:latin typeface="Roboto Condensed"/>
              </a:rPr>
              <a:t>Nodes + Weighted Edges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1" y="2395728"/>
            <a:ext cx="256033" cy="0"/>
          </a:xfrm>
          <a:prstGeom prst="line">
            <a:avLst/>
          </a:prstGeom>
          <a:ln w="20320">
            <a:solidFill>
              <a:srgbClr val="22C7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769864" y="1737360"/>
            <a:ext cx="2331720" cy="1325880"/>
          </a:xfrm>
          <a:prstGeom prst="roundRect">
            <a:avLst/>
          </a:prstGeom>
          <a:solidFill>
            <a:srgbClr val="17253A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44183" y="1984248"/>
            <a:ext cx="1874519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100" b="1" i="0">
                <a:solidFill>
                  <a:srgbClr val="2BB673"/>
                </a:solidFill>
                <a:latin typeface="Roboto Condensed"/>
              </a:rPr>
              <a:t>ARBITRAGE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44183" y="2432304"/>
            <a:ext cx="1874519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 i="0">
                <a:solidFill>
                  <a:srgbClr val="A4B1C4"/>
                </a:solidFill>
                <a:latin typeface="Roboto Condensed"/>
              </a:rPr>
              <a:t>Find Possible Cycles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01583" y="2395728"/>
            <a:ext cx="256032" cy="0"/>
          </a:xfrm>
          <a:prstGeom prst="line">
            <a:avLst/>
          </a:prstGeom>
          <a:ln w="20320">
            <a:solidFill>
              <a:srgbClr val="22C7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57616" y="1737360"/>
            <a:ext cx="3200400" cy="1325880"/>
          </a:xfrm>
          <a:prstGeom prst="roundRect">
            <a:avLst/>
          </a:prstGeom>
          <a:solidFill>
            <a:srgbClr val="17253A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31936" y="198424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100" b="1" i="0">
                <a:solidFill>
                  <a:srgbClr val="F6A23A"/>
                </a:solidFill>
                <a:latin typeface="Roboto Condensed"/>
              </a:rPr>
              <a:t>ROUTE SCORING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1936" y="2432304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 i="0">
                <a:solidFill>
                  <a:srgbClr val="A4B1C4"/>
                </a:solidFill>
                <a:latin typeface="Roboto Condensed"/>
              </a:rPr>
              <a:t>Market-aware ranking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93392" y="4251960"/>
            <a:ext cx="8183879" cy="1143000"/>
          </a:xfrm>
          <a:prstGeom prst="roundRect">
            <a:avLst/>
          </a:prstGeom>
          <a:solidFill>
            <a:srgbClr val="1B2A41"/>
          </a:solidFill>
          <a:ln w="10160">
            <a:solidFill>
              <a:srgbClr val="2BB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59152" y="455371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100" b="1" i="0">
                <a:solidFill>
                  <a:srgbClr val="2BB673"/>
                </a:solidFill>
                <a:latin typeface="Roboto Condensed"/>
              </a:rP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59152" y="4919472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350" b="1" i="0">
                <a:solidFill>
                  <a:srgbClr val="F4F7FA"/>
                </a:solidFill>
                <a:latin typeface="Roboto Condensed"/>
              </a:rPr>
              <a:t>Best route  •  Conversion sequence  •  Estimated return  •  Market-condition 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5925312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050" b="0" i="0">
                <a:solidFill>
                  <a:srgbClr val="A4B1C4"/>
                </a:solidFill>
                <a:latin typeface="Roboto Condensed"/>
              </a:rPr>
              <a:t>User / simulation input  →  data processing  →  graph  →  arbitrage  →  scoring  →  final decision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E6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438912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100" b="1" i="0">
                <a:solidFill>
                  <a:srgbClr val="22C7D5"/>
                </a:solidFill>
                <a:latin typeface="Roboto Condensed"/>
              </a:rPr>
              <a:t>PHASE-I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795528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2800" b="1" i="0">
                <a:solidFill>
                  <a:srgbClr val="F4F7FA"/>
                </a:solidFill>
                <a:latin typeface="Roboto Condensed"/>
              </a:rPr>
              <a:t>Initial Progress &amp; Team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0233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1000" b="1" i="0">
                <a:solidFill>
                  <a:srgbClr val="A4B1C4"/>
                </a:solidFill>
                <a:latin typeface="Roboto Condensed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5138928" cy="4572000"/>
          </a:xfrm>
          <a:prstGeom prst="roundRect">
            <a:avLst/>
          </a:prstGeom>
          <a:solidFill>
            <a:srgbClr val="17253A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89320" y="1664208"/>
            <a:ext cx="5577840" cy="4572000"/>
          </a:xfrm>
          <a:prstGeom prst="roundRect">
            <a:avLst/>
          </a:prstGeom>
          <a:solidFill>
            <a:srgbClr val="17253A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9339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100" b="1" i="0">
                <a:solidFill>
                  <a:srgbClr val="22C7D5"/>
                </a:solidFill>
                <a:latin typeface="Roboto Condensed"/>
              </a:rPr>
              <a:t>PROGRESS ACHIEVED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04872"/>
            <a:ext cx="4434840" cy="333756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spcAft>
                <a:spcPts val="864"/>
              </a:spcAft>
              <a:defRPr sz="1320">
                <a:solidFill>
                  <a:srgbClr val="F4F7FA"/>
                </a:solidFill>
                <a:latin typeface="Roboto Condensed"/>
              </a:defRPr>
            </a:pPr>
            <a:r>
              <a:t>• Problem and system requirements defined</a:t>
            </a:r>
          </a:p>
          <a:p>
            <a:pPr>
              <a:spcAft>
                <a:spcPts val="864"/>
              </a:spcAft>
              <a:defRPr sz="1320">
                <a:solidFill>
                  <a:srgbClr val="F4F7FA"/>
                </a:solidFill>
                <a:latin typeface="Roboto Condensed"/>
              </a:defRPr>
            </a:pPr>
            <a:r>
              <a:t>• Currency-graph model and route concept designed</a:t>
            </a:r>
          </a:p>
          <a:p>
            <a:pPr>
              <a:spcAft>
                <a:spcPts val="864"/>
              </a:spcAft>
              <a:defRPr sz="1320">
                <a:solidFill>
                  <a:srgbClr val="F4F7FA"/>
                </a:solidFill>
                <a:latin typeface="Roboto Condensed"/>
              </a:defRPr>
            </a:pPr>
            <a:r>
              <a:t>• Market-condition factors identified</a:t>
            </a:r>
          </a:p>
          <a:p>
            <a:pPr>
              <a:spcAft>
                <a:spcPts val="864"/>
              </a:spcAft>
              <a:defRPr sz="1320">
                <a:solidFill>
                  <a:srgbClr val="F4F7FA"/>
                </a:solidFill>
                <a:latin typeface="Roboto Condensed"/>
              </a:defRPr>
            </a:pPr>
            <a:r>
              <a:t>• DSA architecture selected for implementation</a:t>
            </a:r>
          </a:p>
          <a:p>
            <a:pPr>
              <a:spcAft>
                <a:spcPts val="864"/>
              </a:spcAft>
              <a:defRPr sz="1320">
                <a:solidFill>
                  <a:srgbClr val="F4F7FA"/>
                </a:solidFill>
                <a:latin typeface="Roboto Condensed"/>
              </a:defRPr>
            </a:pPr>
            <a:r>
              <a:t>• Arbitrage detection and route-scoring approach defined</a:t>
            </a:r>
          </a:p>
          <a:p>
            <a:pPr>
              <a:spcAft>
                <a:spcPts val="864"/>
              </a:spcAft>
              <a:defRPr sz="1320">
                <a:solidFill>
                  <a:srgbClr val="F4F7FA"/>
                </a:solidFill>
                <a:latin typeface="Roboto Condensed"/>
              </a:defRPr>
            </a:pPr>
            <a:r>
              <a:t>• Test cases planned for normal, volatile and fee-heavy markets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99339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100" b="1" i="0">
                <a:solidFill>
                  <a:srgbClr val="2BB673"/>
                </a:solidFill>
                <a:latin typeface="Roboto Condensed"/>
              </a:rPr>
              <a:t>INDIVIDUAL CONTRIBUTION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487168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350" b="1" i="0">
                <a:solidFill>
                  <a:srgbClr val="F4F7FA"/>
                </a:solidFill>
                <a:latin typeface="Roboto Condensed"/>
              </a:rPr>
              <a:t>Dibyanshu Bahuguna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2487168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80" b="0" i="0">
                <a:solidFill>
                  <a:srgbClr val="A4B1C4"/>
                </a:solidFill>
                <a:latin typeface="Roboto Condensed"/>
              </a:rPr>
              <a:t>Team Lead / Core 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310128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350" b="1" i="0">
                <a:solidFill>
                  <a:srgbClr val="F4F7FA"/>
                </a:solidFill>
                <a:latin typeface="Roboto Condensed"/>
              </a:rPr>
              <a:t>Yash Negi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3310128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80" b="0" i="0">
                <a:solidFill>
                  <a:srgbClr val="A4B1C4"/>
                </a:solidFill>
                <a:latin typeface="Roboto Condensed"/>
              </a:rPr>
              <a:t>DSA &amp; Route Management Module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133088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350" b="1" i="0">
                <a:solidFill>
                  <a:srgbClr val="F4F7FA"/>
                </a:solidFill>
                <a:latin typeface="Roboto Condensed"/>
              </a:rPr>
              <a:t>Saurabh Kumar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4133088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80" b="0" i="0">
                <a:solidFill>
                  <a:srgbClr val="A4B1C4"/>
                </a:solidFill>
                <a:latin typeface="Roboto Condensed"/>
              </a:rPr>
              <a:t>Testing / File Handling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956048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350" b="1" i="0">
                <a:solidFill>
                  <a:srgbClr val="F4F7FA"/>
                </a:solidFill>
                <a:latin typeface="Roboto Condensed"/>
              </a:rPr>
              <a:t>Vineet Singh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4956048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80" b="0" i="0">
                <a:solidFill>
                  <a:srgbClr val="A4B1C4"/>
                </a:solidFill>
                <a:latin typeface="Roboto Condensed"/>
              </a:rPr>
              <a:t>Development / Documentation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E6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438912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100" b="1" i="0">
                <a:solidFill>
                  <a:srgbClr val="22C7D5"/>
                </a:solidFill>
                <a:latin typeface="Roboto Condensed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795528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2800" b="1" i="0">
                <a:solidFill>
                  <a:srgbClr val="F4F7FA"/>
                </a:solidFill>
                <a:latin typeface="Roboto Condensed"/>
              </a:rPr>
              <a:t>Roadmap, Expected Outcomes &amp;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0233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1000" b="1" i="0">
                <a:solidFill>
                  <a:srgbClr val="A4B1C4"/>
                </a:solidFill>
                <a:latin typeface="Roboto Condensed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19072"/>
            <a:ext cx="2578608" cy="1325880"/>
          </a:xfrm>
          <a:prstGeom prst="roundRect">
            <a:avLst/>
          </a:prstGeom>
          <a:solidFill>
            <a:srgbClr val="17253A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965960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100" b="1" i="0">
                <a:solidFill>
                  <a:srgbClr val="2E6EEA"/>
                </a:solidFill>
                <a:latin typeface="Roboto Condensed"/>
              </a:rPr>
              <a:t>PHASE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2121408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50" b="1" i="0">
                <a:solidFill>
                  <a:srgbClr val="F4F7FA"/>
                </a:solidFill>
                <a:latin typeface="Roboto Condensed"/>
              </a:rPr>
              <a:t>Problem +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761488"/>
            <a:ext cx="2121408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80" b="0" i="0">
                <a:solidFill>
                  <a:srgbClr val="A4B1C4"/>
                </a:solidFill>
                <a:latin typeface="Roboto Condensed"/>
              </a:rPr>
              <a:t>Completed / current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72968" y="2377440"/>
            <a:ext cx="137159" cy="0"/>
          </a:xfrm>
          <a:prstGeom prst="line">
            <a:avLst/>
          </a:prstGeom>
          <a:ln w="17780">
            <a:solidFill>
              <a:srgbClr val="22C7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47288" y="1719072"/>
            <a:ext cx="2578608" cy="1325880"/>
          </a:xfrm>
          <a:prstGeom prst="roundRect">
            <a:avLst/>
          </a:prstGeom>
          <a:solidFill>
            <a:srgbClr val="17253A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1965960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100" b="1" i="0">
                <a:solidFill>
                  <a:srgbClr val="22C7D5"/>
                </a:solidFill>
                <a:latin typeface="Roboto Condensed"/>
              </a:rPr>
              <a:t>PHASE II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331720"/>
            <a:ext cx="2121408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50" b="1" i="0">
                <a:solidFill>
                  <a:srgbClr val="F4F7FA"/>
                </a:solidFill>
                <a:latin typeface="Roboto Condensed"/>
              </a:rPr>
              <a:t>C / DSA 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761488"/>
            <a:ext cx="2121408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80" b="0" i="0">
                <a:solidFill>
                  <a:srgbClr val="A4B1C4"/>
                </a:solidFill>
                <a:latin typeface="Roboto Condensed"/>
              </a:rPr>
              <a:t>Build core modules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25896" y="2377440"/>
            <a:ext cx="137160" cy="0"/>
          </a:xfrm>
          <a:prstGeom prst="line">
            <a:avLst/>
          </a:prstGeom>
          <a:ln w="17780">
            <a:solidFill>
              <a:srgbClr val="22C7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00216" y="1719072"/>
            <a:ext cx="2578608" cy="1325880"/>
          </a:xfrm>
          <a:prstGeom prst="roundRect">
            <a:avLst/>
          </a:prstGeom>
          <a:solidFill>
            <a:srgbClr val="17253A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1965960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100" b="1" i="0">
                <a:solidFill>
                  <a:srgbClr val="2BB673"/>
                </a:solidFill>
                <a:latin typeface="Roboto Condensed"/>
              </a:rPr>
              <a:t>PHASE III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248" y="2331720"/>
            <a:ext cx="2121408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50" b="1" i="0">
                <a:solidFill>
                  <a:srgbClr val="F4F7FA"/>
                </a:solidFill>
                <a:latin typeface="Roboto Condensed"/>
              </a:rPr>
              <a:t>Testing +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2761488"/>
            <a:ext cx="2121408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80" b="0" i="0">
                <a:solidFill>
                  <a:srgbClr val="A4B1C4"/>
                </a:solidFill>
                <a:latin typeface="Roboto Condensed"/>
              </a:rPr>
              <a:t>Scenario-based validation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78824" y="2377440"/>
            <a:ext cx="137160" cy="0"/>
          </a:xfrm>
          <a:prstGeom prst="line">
            <a:avLst/>
          </a:prstGeom>
          <a:ln w="17780">
            <a:solidFill>
              <a:srgbClr val="22C7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53144" y="1719072"/>
            <a:ext cx="2578608" cy="1325880"/>
          </a:xfrm>
          <a:prstGeom prst="roundRect">
            <a:avLst/>
          </a:prstGeom>
          <a:solidFill>
            <a:srgbClr val="17253A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9176" y="1965960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100" b="1" i="0">
                <a:solidFill>
                  <a:srgbClr val="F6A23A"/>
                </a:solidFill>
                <a:latin typeface="Roboto Condensed"/>
              </a:rPr>
              <a:t>FUTURE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9176" y="2331720"/>
            <a:ext cx="2121408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50" b="1" i="0">
                <a:solidFill>
                  <a:srgbClr val="F4F7FA"/>
                </a:solidFill>
                <a:latin typeface="Roboto Condensed"/>
              </a:rPr>
              <a:t>Live market / APIs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9176" y="2761488"/>
            <a:ext cx="2121408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80" b="0" i="0">
                <a:solidFill>
                  <a:srgbClr val="A4B1C4"/>
                </a:solidFill>
                <a:latin typeface="Roboto Condensed"/>
              </a:rPr>
              <a:t>Optional real-time extension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657600"/>
            <a:ext cx="5303520" cy="2148840"/>
          </a:xfrm>
          <a:prstGeom prst="roundRect">
            <a:avLst/>
          </a:prstGeom>
          <a:solidFill>
            <a:srgbClr val="17253A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080760" y="3657600"/>
            <a:ext cx="5486400" cy="2148840"/>
          </a:xfrm>
          <a:prstGeom prst="roundRect">
            <a:avLst/>
          </a:prstGeom>
          <a:solidFill>
            <a:srgbClr val="17253A"/>
          </a:solidFill>
          <a:ln w="10160">
            <a:solidFill>
              <a:srgbClr val="35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39593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100" b="1" i="0">
                <a:solidFill>
                  <a:srgbClr val="2BB673"/>
                </a:solidFill>
                <a:latin typeface="Roboto Condensed"/>
              </a:rPr>
              <a:t>EXPECTED OUTCOMES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343400"/>
            <a:ext cx="452628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spcAft>
                <a:spcPts val="864"/>
              </a:spcAft>
              <a:defRPr sz="1250">
                <a:solidFill>
                  <a:srgbClr val="F4F7FA"/>
                </a:solidFill>
                <a:latin typeface="Roboto Condensed"/>
              </a:defRPr>
            </a:pPr>
            <a:r>
              <a:t>• Working currency arbitrage simulation</a:t>
            </a:r>
          </a:p>
          <a:p>
            <a:pPr>
              <a:spcAft>
                <a:spcPts val="864"/>
              </a:spcAft>
              <a:defRPr sz="1250">
                <a:solidFill>
                  <a:srgbClr val="F4F7FA"/>
                </a:solidFill>
                <a:latin typeface="Roboto Condensed"/>
              </a:defRPr>
            </a:pPr>
            <a:r>
              <a:t>• Market-aware route ranking</a:t>
            </a:r>
          </a:p>
          <a:p>
            <a:pPr>
              <a:spcAft>
                <a:spcPts val="864"/>
              </a:spcAft>
              <a:defRPr sz="1250">
                <a:solidFill>
                  <a:srgbClr val="F4F7FA"/>
                </a:solidFill>
                <a:latin typeface="Roboto Condensed"/>
              </a:defRPr>
            </a:pPr>
            <a:r>
              <a:t>• Clear DSA implementation in C</a:t>
            </a:r>
          </a:p>
          <a:p>
            <a:pPr>
              <a:spcAft>
                <a:spcPts val="864"/>
              </a:spcAft>
              <a:defRPr sz="1250">
                <a:solidFill>
                  <a:srgbClr val="F4F7FA"/>
                </a:solidFill>
                <a:latin typeface="Roboto Condensed"/>
              </a:defRPr>
            </a:pPr>
            <a:r>
              <a:t>• Scenario-based performance 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39593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/>
            <a:r>
              <a:rPr sz="1100" b="1" i="0">
                <a:solidFill>
                  <a:srgbClr val="22C7D5"/>
                </a:solidFill>
                <a:latin typeface="Roboto Condensed"/>
              </a:rPr>
              <a:t>REFERENCES / BASIS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4343400"/>
            <a:ext cx="4617720" cy="132588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spcAft>
                <a:spcPts val="864"/>
              </a:spcAft>
              <a:defRPr sz="1180">
                <a:solidFill>
                  <a:srgbClr val="F4F7FA"/>
                </a:solidFill>
                <a:latin typeface="Roboto Condensed"/>
              </a:defRPr>
            </a:pPr>
            <a:r>
              <a:t>• DSA &amp; Graph Algorithm concepts</a:t>
            </a:r>
          </a:p>
          <a:p>
            <a:pPr>
              <a:spcAft>
                <a:spcPts val="864"/>
              </a:spcAft>
              <a:defRPr sz="1180">
                <a:solidFill>
                  <a:srgbClr val="F4F7FA"/>
                </a:solidFill>
                <a:latin typeface="Roboto Condensed"/>
              </a:defRPr>
            </a:pPr>
            <a:r>
              <a:t>• C Programming / Standard Library</a:t>
            </a:r>
          </a:p>
          <a:p>
            <a:pPr>
              <a:spcAft>
                <a:spcPts val="864"/>
              </a:spcAft>
              <a:defRPr sz="1180">
                <a:solidFill>
                  <a:srgbClr val="F4F7FA"/>
                </a:solidFill>
                <a:latin typeface="Roboto Condensed"/>
              </a:defRPr>
            </a:pPr>
            <a:r>
              <a:t>• Shortest-Path Algorithms</a:t>
            </a:r>
          </a:p>
          <a:p>
            <a:pPr>
              <a:spcAft>
                <a:spcPts val="864"/>
              </a:spcAft>
              <a:defRPr sz="1180">
                <a:solidFill>
                  <a:srgbClr val="F4F7FA"/>
                </a:solidFill>
                <a:latin typeface="Roboto Condensed"/>
              </a:defRPr>
            </a:pPr>
            <a:r>
              <a:t>• Cycle Detection</a:t>
            </a:r>
          </a:p>
          <a:p>
            <a:pPr>
              <a:spcAft>
                <a:spcPts val="864"/>
              </a:spcAft>
              <a:defRPr sz="1180">
                <a:solidFill>
                  <a:srgbClr val="F4F7FA"/>
                </a:solidFill>
                <a:latin typeface="Roboto Condensed"/>
              </a:defRPr>
            </a:pPr>
            <a:r>
              <a:t>• Currency Arbitrage &amp; Route Simulation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9080" y="6236208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050" b="1" i="0">
                <a:solidFill>
                  <a:srgbClr val="A4B1C4"/>
                </a:solidFill>
                <a:latin typeface="Roboto Condensed"/>
              </a:rPr>
              <a:t>THANK YOU  •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Currency Arbitrage with Market-Condition-Aware Route Selection – PBL Phase I</dc:title>
  <dc:subject>Cleanly formatted Phase I presentation</dc:subject>
  <dc:creator>Project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