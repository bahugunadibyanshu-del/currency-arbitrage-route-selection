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1335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team. DSA in C (Bellman-Ford, DFS, BFS) and OOPS in C++ (classes that build the market data).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team. DSA in C (Bellman-Ford, DFS, BFS) and OOPS in C++ (classes that build the market data).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rates are made up purely to show the arithmetic. They are not real quotes.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three boxes are done by the C++ program, the last three by the C program. Be clear that C++ and C only communicate through edges.csv. There is no direct function call between them, and the C++ code does not use inheritance or polymorphism.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shown has been tested on a saved sample-rate snapshot. DFS and BFS are traversal tools. Only Bellman-Ford handles weighted edges and negative cycles.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is based on the code and the test runs we actually did: one no-arbitrage case and one demo-mode case, on a saved sample-rate snapshot.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mode pretends INR-&gt;GBP is quoted 1.5% too high and EUR-&gt;JPY 2.0% too high. It is NOT real market data. It proves the detection and route search work when a mispricing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numbers come from compare.c on 9 currencies. Bellman-Ford needs 144 edge checks when no cycle exists and 648 (V x E) when one does. DFS and BFS grow quickly with the hop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several planned steps are already done. The real remaining work is market-condition-aware scoring, a decision table and wider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these in the viva if asked where the algorithms and data come from. Read the conclusion in your own words and mention that the next goal is the market-condition-aware ranking.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069848"/>
            <a:ext cx="7996428" cy="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pic>
        <p:nvPicPr>
          <p:cNvPr id="3" name="Image 0" descr="/home/claude/x/ppt/media/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072" y="109728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" y="491947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 — Graphic Era (Deemed to be University)</a:t>
            </a:r>
            <a:endParaRPr lang="en-US" sz="1000" dirty="0"/>
          </a:p>
        </p:txBody>
      </p:sp>
      <p:sp>
        <p:nvSpPr>
          <p:cNvPr id="5" name="Text 2"/>
          <p:cNvSpPr>
            <a:spLocks noGrp="1"/>
          </p:cNvSpPr>
          <p:nvPr>
            <p:ph type="title" idx="103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9144000" cy="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pic>
        <p:nvPicPr>
          <p:cNvPr id="3" name="Image 0" descr="/home/claude/x/ppt/media/image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7072" y="109728"/>
            <a:ext cx="347472" cy="34747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325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LEARNING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PHASE-II EVALUATION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Arbitrage with Market-Condition-Aware Route Selection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DSCPP-III-2026-T384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Era (Deemed to be University), Dehradun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5537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Session 2026–27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Mentor Details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2/15</a:t>
            </a:r>
            <a:endParaRPr lang="en-US" sz="1000" dirty="0"/>
          </a:p>
        </p:txBody>
      </p:sp>
      <p:sp>
        <p:nvSpPr>
          <p:cNvPr id="5" name="Box"/>
          <p:cNvSpPr/>
          <p:nvPr/>
        </p:nvSpPr>
        <p:spPr>
          <a:xfrm>
            <a:off x="493776" y="1463040"/>
            <a:ext cx="3995928" cy="1691640"/>
          </a:xfrm>
          <a:prstGeom prst="roundRect">
            <a:avLst>
              <a:gd name="adj" fmla="val 4324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Information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847088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 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DSCPP-III-2026-T384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Semester:  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 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X_ML4 / X_I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 </a:t>
            </a: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in C + OOPS in C++ (Mini Project)</a:t>
            </a:r>
            <a:endParaRPr lang="en-US" sz="1500" dirty="0"/>
          </a:p>
        </p:txBody>
      </p:sp>
      <p:sp>
        <p:nvSpPr>
          <p:cNvPr id="8" name="Box"/>
          <p:cNvSpPr/>
          <p:nvPr/>
        </p:nvSpPr>
        <p:spPr>
          <a:xfrm>
            <a:off x="4654296" y="1463040"/>
            <a:ext cx="4005072" cy="1691640"/>
          </a:xfrm>
          <a:prstGeom prst="roundRect">
            <a:avLst>
              <a:gd name="adj" fmla="val 4324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548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1847088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3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Negi – 2519577</a:t>
            </a:r>
            <a:endParaRPr lang="en-US" sz="1500" dirty="0"/>
          </a:p>
          <a:p>
            <a:pPr marL="304800" indent="-304800">
              <a:spcAft>
                <a:spcPts val="3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Saurabh Rajput – 2519498</a:t>
            </a:r>
            <a:endParaRPr lang="en-US" sz="1500" dirty="0"/>
          </a:p>
          <a:p>
            <a:pPr marL="304800" indent="-304800">
              <a:spcAft>
                <a:spcPts val="3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Dibyansh Bahuguna – 2519353</a:t>
            </a:r>
            <a:endParaRPr lang="en-US" sz="1500" dirty="0"/>
          </a:p>
          <a:p>
            <a:pPr marL="304800" indent="-304800">
              <a:spcAft>
                <a:spcPts val="3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Vineet Singh – 2518749</a:t>
            </a:r>
            <a:endParaRPr lang="en-US" sz="1500" dirty="0"/>
          </a:p>
        </p:txBody>
      </p:sp>
      <p:sp>
        <p:nvSpPr>
          <p:cNvPr id="11" name="Box"/>
          <p:cNvSpPr/>
          <p:nvPr/>
        </p:nvSpPr>
        <p:spPr>
          <a:xfrm>
            <a:off x="493776" y="3383280"/>
            <a:ext cx="8165592" cy="777240"/>
          </a:xfrm>
          <a:prstGeom prst="roundRect">
            <a:avLst>
              <a:gd name="adj" fmla="val 9412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3410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37307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Narayan Chaturvedi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4754880" y="37307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completed: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498080" y="3730752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498080" y="4041648"/>
            <a:ext cx="10515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6928" y="4389120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Mini project on DSA in C and OOPS in C++: currency arbitrage with market-condition-aware route selection.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 Recap &amp; Feedback Incorporated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3/15</a:t>
            </a:r>
            <a:endParaRPr lang="en-US" sz="1000" dirty="0"/>
          </a:p>
        </p:txBody>
      </p:sp>
      <p:sp>
        <p:nvSpPr>
          <p:cNvPr id="4" name="Box"/>
          <p:cNvSpPr/>
          <p:nvPr/>
        </p:nvSpPr>
        <p:spPr>
          <a:xfrm>
            <a:off x="493776" y="1371600"/>
            <a:ext cx="8165592" cy="868680"/>
          </a:xfrm>
          <a:prstGeom prst="roundRect">
            <a:avLst>
              <a:gd name="adj" fmla="val 8421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081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 Status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5564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currency conversion as a graph and used Bellman-Ford to detect possible arbitrage cycles.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Received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8346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050" dirty="0"/>
              <a:t>Integrate a real-time currency exchange rate API for live market rates</a:t>
            </a:r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050" dirty="0"/>
              <a:t>Compare BFS, DFS, and Bellman–Ford to identify the most suitable arbitrage route</a:t>
            </a:r>
            <a:r>
              <a:rPr lang="en-US" sz="1600" dirty="0"/>
              <a:t>.</a:t>
            </a:r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050" dirty="0"/>
              <a:t>Optimize route selection by considering exchange rates, transaction costs, and maximum profit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4736592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Incorporated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736592" y="28346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050" dirty="0"/>
              <a:t>Improved the system to support API-based real-time exchange rates.</a:t>
            </a:r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050" dirty="0"/>
              <a:t>Implemented and compared BFS, DFS, and Bellman–Ford algorithms for route detection.</a:t>
            </a:r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050" dirty="0"/>
              <a:t>Enhanced the route-selection logic to identify profitable arbitrage cycles while considering transaction costs.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566928" y="411480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Explain the major feedback received during Phase-I and clearly demonstrate how it has been incorporated.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Finalized Objectives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4/15</a:t>
            </a:r>
            <a:endParaRPr lang="en-US" sz="1000" dirty="0"/>
          </a:p>
        </p:txBody>
      </p:sp>
      <p:sp>
        <p:nvSpPr>
          <p:cNvPr id="5" name="Box"/>
          <p:cNvSpPr/>
          <p:nvPr/>
        </p:nvSpPr>
        <p:spPr>
          <a:xfrm>
            <a:off x="493776" y="1325880"/>
            <a:ext cx="8165592" cy="914400"/>
          </a:xfrm>
          <a:prstGeom prst="roundRect">
            <a:avLst>
              <a:gd name="adj" fmla="val 8000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6245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6916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money through a few currencies can sometimes leave us with more than we began with. We detect such loops among 9 currencies and pick the best route after fee and spread.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 Objectives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2724912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9 currencies as a directed graph of 72 edges, with weight = -ln(effective rate)</a:t>
            </a:r>
            <a:endParaRPr lang="en-US" sz="14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possible arbitrage with a Bellman-Ford negative-cycle check</a:t>
            </a:r>
            <a:endParaRPr lang="en-US" sz="14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3-4 step round trips by net return after fee and spread; show the best route</a:t>
            </a:r>
            <a:endParaRPr lang="en-US" sz="14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ranking market-condition-aware (liquidity, slippage, data freshness)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023360"/>
            <a:ext cx="8001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If r1 × r2 × ... × rn &gt; 1 for a loop, then -ln(r1 × ... × rn) &lt; 0, so the loop has a negative total weight. Example (made-up rates): 1.10 × 0.95 × 0.97 = 1.01365, so the total weight is about -0.0136. A negative cycle is only a possible opportunity, not guaranteed profit.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System Architecture / Workflow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5/15</a:t>
            </a:r>
            <a:endParaRPr lang="en-US" sz="1000" dirty="0"/>
          </a:p>
        </p:txBody>
      </p:sp>
      <p:sp>
        <p:nvSpPr>
          <p:cNvPr id="5" name="Flow 1"/>
          <p:cNvSpPr/>
          <p:nvPr/>
        </p:nvSpPr>
        <p:spPr>
          <a:xfrm>
            <a:off x="566928" y="137160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EBF2F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371600"/>
            <a:ext cx="1143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rates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709928" y="1691640"/>
            <a:ext cx="224942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8" name="Flow 2"/>
          <p:cNvSpPr/>
          <p:nvPr/>
        </p:nvSpPr>
        <p:spPr>
          <a:xfrm>
            <a:off x="1934870" y="137160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EBF2F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934870" y="1371600"/>
            <a:ext cx="1143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construction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77870" y="1691640"/>
            <a:ext cx="224942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1" name="Flow 3"/>
          <p:cNvSpPr/>
          <p:nvPr/>
        </p:nvSpPr>
        <p:spPr>
          <a:xfrm>
            <a:off x="3302813" y="137160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EBF2F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02813" y="1371600"/>
            <a:ext cx="1143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Edge-weight conversion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45813" y="1691640"/>
            <a:ext cx="224942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Flow 4"/>
          <p:cNvSpPr/>
          <p:nvPr/>
        </p:nvSpPr>
        <p:spPr>
          <a:xfrm>
            <a:off x="4670755" y="137160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EBF2F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670755" y="1371600"/>
            <a:ext cx="1143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Bellman-Ford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813755" y="1691640"/>
            <a:ext cx="224942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Flow 5"/>
          <p:cNvSpPr/>
          <p:nvPr/>
        </p:nvSpPr>
        <p:spPr>
          <a:xfrm>
            <a:off x="6038698" y="137160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EBF2F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38698" y="1371600"/>
            <a:ext cx="1143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Negative-cycle check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181698" y="1691640"/>
            <a:ext cx="224942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0" name="Flow 6"/>
          <p:cNvSpPr/>
          <p:nvPr/>
        </p:nvSpPr>
        <p:spPr>
          <a:xfrm>
            <a:off x="7406640" y="1371600"/>
            <a:ext cx="1143000" cy="640080"/>
          </a:xfrm>
          <a:prstGeom prst="roundRect">
            <a:avLst>
              <a:gd name="adj" fmla="val 14286"/>
            </a:avLst>
          </a:prstGeom>
          <a:solidFill>
            <a:srgbClr val="EBF2F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06640" y="1371600"/>
            <a:ext cx="114300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66928" y="2057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(market_builder.cpp): first three boxes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4672584" y="2057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(arbitrage.c): last three boxes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Components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276148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LiveRateProvider: gets the rates</a:t>
            </a:r>
            <a:endParaRPr lang="en-US" sz="135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MarketConditions: fee and spread kept as private data</a:t>
            </a:r>
            <a:endParaRPr lang="en-US" sz="135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MarketDataBuilder: builds 72 edges, writes edges.csv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4736592" y="2423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Since Phase-I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4736592" y="2761488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rate download code written (live run pending)</a:t>
            </a:r>
            <a:endParaRPr lang="en-US" sz="135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cycle reconstruction and exact return</a:t>
            </a:r>
            <a:endParaRPr lang="en-US" sz="135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step route search and DFS / BFS comparison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4114800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The two programs never call each other; the only link between them is edges.csv. The C++ code uses classes and encapsulation, but not inheritance or polymorphism.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Design &amp; Functional Requirements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Modules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4592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builder (market_builder.cpp, C++)</a:t>
            </a:r>
            <a:endParaRPr lang="en-US" sz="14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Bellman-Ford detection (arbitrage.c, C)</a:t>
            </a:r>
            <a:endParaRPr lang="en-US" sz="14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search and ranking (arbitrage.c, C)</a:t>
            </a:r>
            <a:endParaRPr lang="en-US" sz="14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/ BFS comparison (compare.c, C)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36592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736592" y="164592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rates and build 72 edges for 9 currencies</a:t>
            </a:r>
            <a:endParaRPr lang="en-US" sz="14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each effective rate to weight = -ln(rate)</a:t>
            </a:r>
            <a:endParaRPr lang="en-US" sz="14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 negative cycle and rebuild the route</a:t>
            </a:r>
            <a:endParaRPr lang="en-US" sz="14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3-4 step round trips and show the return on 1,000 units</a:t>
            </a:r>
            <a:endParaRPr lang="en-US" sz="1400" dirty="0"/>
          </a:p>
        </p:txBody>
      </p:sp>
      <p:sp>
        <p:nvSpPr>
          <p:cNvPr id="8" name="Box"/>
          <p:cNvSpPr/>
          <p:nvPr/>
        </p:nvSpPr>
        <p:spPr>
          <a:xfrm>
            <a:off x="493776" y="3291840"/>
            <a:ext cx="8165592" cy="868680"/>
          </a:xfrm>
          <a:prstGeom prst="roundRect">
            <a:avLst>
              <a:gd name="adj" fmla="val 8421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3284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Dependency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6576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arbitrage.c and compare.c read the edges.csv file written by market_builder.cpp; the programs never call each other.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29768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Each module does one job: build the data, detect a cycle, search and rank routes, and compare DFS, BFS and Bellman-Ford work.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Development Methodology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7/15</a:t>
            </a:r>
            <a:endParaRPr lang="en-US" sz="1000" dirty="0"/>
          </a:p>
        </p:txBody>
      </p:sp>
      <p:sp>
        <p:nvSpPr>
          <p:cNvPr id="4" name="Box"/>
          <p:cNvSpPr/>
          <p:nvPr/>
        </p:nvSpPr>
        <p:spPr>
          <a:xfrm>
            <a:off x="493776" y="1463040"/>
            <a:ext cx="3995928" cy="2103120"/>
          </a:xfrm>
          <a:prstGeom prst="roundRect">
            <a:avLst>
              <a:gd name="adj" fmla="val 3478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874520"/>
            <a:ext cx="3794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Programming: C (DSA) / C++ (OOPS)</a:t>
            </a:r>
            <a:endParaRPr lang="en-US" sz="15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edges.csv (CSV file)</a:t>
            </a:r>
            <a:endParaRPr lang="en-US" sz="15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None (curl for the rate download)</a:t>
            </a:r>
            <a:endParaRPr lang="en-US" sz="15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Tool: run.sh</a:t>
            </a:r>
            <a:endParaRPr lang="en-US" sz="15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</a:t>
            </a:r>
            <a:r>
              <a:rPr lang="en-US" sz="15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500" dirty="0"/>
          </a:p>
        </p:txBody>
      </p:sp>
      <p:sp>
        <p:nvSpPr>
          <p:cNvPr id="7" name="Box"/>
          <p:cNvSpPr/>
          <p:nvPr/>
        </p:nvSpPr>
        <p:spPr>
          <a:xfrm>
            <a:off x="4654296" y="1463040"/>
            <a:ext cx="4005072" cy="2103120"/>
          </a:xfrm>
          <a:prstGeom prst="roundRect">
            <a:avLst>
              <a:gd name="adj" fmla="val 3478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Methodology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1874520"/>
            <a:ext cx="3794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5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5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Development</a:t>
            </a:r>
            <a:endParaRPr lang="en-US" sz="15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5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84048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C and C++ with one CSV file keep the two programs simple and separate. Rates are downloaded from ExchangeRate-API each time the program runs.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of PBL Course Concepts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8/15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8001000" cy="155448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Concepts Actually Implemented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Module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Structures in 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as edge list and rate matrix; Bellman-Ford; DFS and BFS (BFS queue of partial paths); parent pointers to rebuild routes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arbitrage.c, compare.c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OOPs with C++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 and encapsulation: LiveRateProvider, MarketConditions (private fee and spread), MarketDataBuilder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market_builder.cpp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Box"/>
          <p:cNvSpPr/>
          <p:nvPr/>
        </p:nvSpPr>
        <p:spPr>
          <a:xfrm>
            <a:off x="822960" y="3291840"/>
            <a:ext cx="7498080" cy="548640"/>
          </a:xfrm>
          <a:prstGeom prst="roundRect">
            <a:avLst>
              <a:gd name="adj" fmla="val 13333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14400" y="3291840"/>
            <a:ext cx="73152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</a:t>
            </a:r>
            <a:r>
              <a:rPr lang="en-US" sz="13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concepts actually implemented are listed. The C++ code does not use inheritance or polymorphism.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4069080"/>
            <a:ext cx="8001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DFS holds 1 path at a time (max 4 currencies); the BFS queue held up to 336 partial paths. Bellman-Ford handles weighted edges and negative cycles; DFS and BFS alone cannot detect profit from weighted exchange rates.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&amp; Implementation Progress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9/15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34440"/>
          <a:ext cx="8001000" cy="24688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 Completed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built correctly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currencies, 72 edges loaded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Bellman-Ford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printed in every 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Negative-cycle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2 test cases so far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reconstruction and return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route printed; 1,000-unit walkthrough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comparison and ranking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3-4 step loops ranked; top-5 list, no decision column yet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and C++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 edges.csv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rate download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Completed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written; live run not shown yet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Market-condition scoring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fee and spread for every route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9144" marB="914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Box"/>
          <p:cNvSpPr/>
          <p:nvPr/>
        </p:nvSpPr>
        <p:spPr>
          <a:xfrm>
            <a:off x="1828800" y="3986784"/>
            <a:ext cx="5486400" cy="329184"/>
          </a:xfrm>
          <a:prstGeom prst="roundRect">
            <a:avLst>
              <a:gd name="adj" fmla="val 22222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1828800" y="398678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Project Completion: </a:t>
            </a:r>
            <a:r>
              <a:rPr lang="en-US" sz="1400" b="1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66928" y="4425696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Completed, partially completed and pending work are shown separately. Calculated net profit rests on our 0.10% fee and 0.10% spread assumptions, not guaranteed real-world profit.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/ Demonstration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Features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21488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downloaded and 72 edges written to edges.csv</a:t>
            </a:r>
            <a:endParaRPr lang="en-US" sz="14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Bellman-Ford negative-cycle detection</a:t>
            </a:r>
            <a:endParaRPr lang="en-US" sz="14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search over 924 round trips of 3-4 steps</a:t>
            </a:r>
            <a:endParaRPr lang="en-US" sz="14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route with a 1,000-unit walkthrough</a:t>
            </a:r>
            <a:endParaRPr lang="en-US" sz="1400" dirty="0"/>
          </a:p>
        </p:txBody>
      </p:sp>
      <p:sp>
        <p:nvSpPr>
          <p:cNvPr id="7" name="Box"/>
          <p:cNvSpPr/>
          <p:nvPr/>
        </p:nvSpPr>
        <p:spPr>
          <a:xfrm>
            <a:off x="4416552" y="1554480"/>
            <a:ext cx="4242816" cy="2331720"/>
          </a:xfrm>
          <a:prstGeom prst="roundRect">
            <a:avLst>
              <a:gd name="adj" fmla="val 3137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262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/ Output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196596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./market_builder --demo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./arbitrage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Profitable routes found: 97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EUR -&gt; JPY -&gt; INR -&gt; GBP -&gt; EUR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Start with 1000.00 EUR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Net change: +27.0465 EUR (+2.7047%)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3474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Made-up mispricing on saved sample rates, not real market data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411480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The outputs shown come from a saved sample-rate snapshot; demo mode uses made-up data. A live run is still to be shown.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Results &amp; Validation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11/15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188720"/>
          <a:ext cx="8001000" cy="1996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/ 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No-arbitrage run (saved sample rates)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profitable loop after 0.10% fee and spread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negative cycle; 0 profitable routes in 924 round trips; closest EUR → CAD → AUD → EUR at -0.5985%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mode (made-up mispricing)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cycle found and a profitable route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cycle found; 97 profitable routes; best EUR → JPY → INR → GBP → EUR at +2.7047%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rate download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Rates downloaded; provider update time printed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written; live run not shown yet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 and missing rates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 correctly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tested yet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Box"/>
          <p:cNvSpPr/>
          <p:nvPr/>
        </p:nvSpPr>
        <p:spPr>
          <a:xfrm>
            <a:off x="493776" y="3319272"/>
            <a:ext cx="8165592" cy="987552"/>
          </a:xfrm>
          <a:prstGeom prst="roundRect">
            <a:avLst>
              <a:gd name="adj" fmla="val 7407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9436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/ Validation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365760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checks on 9 currencies for hop limits 3 to 7: DFS / BFS 1,704; 7,752; 31,944; 112,584; 319,944. Bellman-Ford needs at most 648 (V × E), and 144 when no cycle exists. BFS queue held up to 336 partial paths vs a DFS path of 4. In demo mode Bellman-Ford found a +1.59% cycle (EUR-JPY-EUR); the route search found a better +2.70% route.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4407408"/>
            <a:ext cx="8001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Results come from actual runs on a saved sample-rate snapshot, not live market data; a live run is still to be shown.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&amp; Development Activity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Information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4592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</a:t>
            </a:r>
            <a:r>
              <a:rPr lang="en-US" sz="11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Link:https</a:t>
            </a: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://github.com/</a:t>
            </a:r>
            <a:r>
              <a:rPr lang="en-US" sz="1100" dirty="0" err="1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bahugunadibyanshu</a:t>
            </a: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-del/currency-arbitrage-phase2</a:t>
            </a:r>
            <a:endParaRPr lang="en-US" sz="11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README.md: </a:t>
            </a: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https://github.com/bahugunadibyanshu-del/currency-arbitrage-phase2/blob/main/README.md</a:t>
            </a:r>
            <a:endParaRPr lang="en-US" sz="11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Contributors: </a:t>
            </a: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Dibyanshu </a:t>
            </a:r>
            <a:r>
              <a:rPr lang="en-US" sz="1100" i="1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Bahuguna,Saurabh</a:t>
            </a: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Kumar,Yash</a:t>
            </a: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Negi,Vineet</a:t>
            </a: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Singh</a:t>
            </a:r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Status: Active Development — Phase 2 Implementation in Progress</a:t>
            </a:r>
            <a:endParaRPr lang="en-US" sz="14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Branches: </a:t>
            </a: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B-tech CSE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36592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Box"/>
          <p:cNvSpPr/>
          <p:nvPr/>
        </p:nvSpPr>
        <p:spPr>
          <a:xfrm>
            <a:off x="393192" y="3808476"/>
            <a:ext cx="7498080" cy="640080"/>
          </a:xfrm>
          <a:prstGeom prst="roundRect">
            <a:avLst>
              <a:gd name="adj" fmla="val 11429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6072" y="382219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</a:t>
            </a:r>
            <a:r>
              <a:rPr lang="en-US" sz="14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team members must be contributors and must </a:t>
            </a: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individually using their own GitHub accounts.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76072" y="443484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Show repository activity, README, contributor list and commit history during the presentation.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Contribution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13/15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770643"/>
              </p:ext>
            </p:extLst>
          </p:nvPr>
        </p:nvGraphicFramePr>
        <p:xfrm>
          <a:off x="566928" y="1234440"/>
          <a:ext cx="8001000" cy="2279904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Contribution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Commits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Yash Negi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Bellman-Ford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Bellman-Ford negative-cycle detection and route rebuilding with parent pointers (arbitrage.c)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Saurabh Rajput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 Market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C++ classes (LiveRateProvider, MarketConditions, MarketDataBuilder); wrote edges.csv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Dibyansh Bahuguna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</a:t>
                      </a:r>
                      <a:r>
                        <a:rPr lang="en-US" sz="1200" dirty="0" err="1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Lead;Route</a:t>
                      </a: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Search &amp; Ranking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of 924 round trips, net return after fee and spread, 1,000-unit walkthrough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Vineet Singh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 / BFS &amp;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 / BFS edge-check measurements (compare.c); test runs; README.md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Box"/>
          <p:cNvSpPr/>
          <p:nvPr/>
        </p:nvSpPr>
        <p:spPr>
          <a:xfrm>
            <a:off x="493776" y="3611880"/>
            <a:ext cx="8165592" cy="731520"/>
          </a:xfrm>
          <a:prstGeom prst="roundRect">
            <a:avLst>
              <a:gd name="adj" fmla="val 10000"/>
            </a:avLst>
          </a:prstGeom>
          <a:solidFill>
            <a:srgbClr val="EBF2FB"/>
          </a:solidFill>
          <a:ln w="12700">
            <a:solidFill>
              <a:srgbClr val="EBF2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36393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Evaluation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39593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should be prepared to explain and demonstrate their own technical contribution to the project.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443484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Contributions should be specific and verifiable. Avoid generic statements such as “helped in coding” or “worked on documentation”.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Challenges, Remaining Work &amp; Phase-III Roadmap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57276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Live-data run still to be shown; rates are daily reference rates</a:t>
            </a:r>
            <a:endParaRPr lang="en-US" sz="13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C and C++ link only through edges.csv</a:t>
            </a:r>
            <a:endParaRPr lang="en-US" sz="13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0.10% fee and spread used for every route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7432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/ Learning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3081528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stops if the download fails instead of using fake rates</a:t>
            </a:r>
            <a:endParaRPr lang="en-US" sz="13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(made-up mispricing) tests detection and route search</a:t>
            </a:r>
            <a:endParaRPr lang="en-US" sz="1300" dirty="0"/>
          </a:p>
          <a:p>
            <a:pPr marL="279400" indent="-279400">
              <a:spcAft>
                <a:spcPts val="500"/>
              </a:spcAft>
              <a:buClr>
                <a:srgbClr val="1B3A6B"/>
              </a:buClr>
              <a:buSzPct val="100000"/>
              <a:buChar char="▶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cycle is only a possible opportunity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736592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Phase-III Roadmap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736592" y="1572768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live rates and capture screenshots</a:t>
            </a:r>
            <a:endParaRPr lang="en-US" sz="13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fee and spread per currency pair</a:t>
            </a:r>
            <a:endParaRPr lang="en-US" sz="13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test cases: stale data, missing rates</a:t>
            </a:r>
            <a:endParaRPr lang="en-US" sz="13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Market-condition-aware ranking: liquidity, slippage, data freshness</a:t>
            </a:r>
            <a:endParaRPr lang="en-US" sz="1300" dirty="0"/>
          </a:p>
          <a:p>
            <a:pPr marL="304800" indent="-304800">
              <a:spcAft>
                <a:spcPts val="5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column in the route table and a clearer final report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434340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Completed so far: graph and edges.csv, Bellman-Ford detection, route search, return calculation and the DFS / BFS / Bellman-Ford comparison. The rest is in the roadmap.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566928" y="365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 &amp; References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046720" y="49194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Final Outcomes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1572768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400"/>
              </a:spcAft>
              <a:buClr>
                <a:srgbClr val="1B3A6B"/>
              </a:buClr>
              <a:buSzPct val="100000"/>
              <a:buChar char="▶"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run on live rates, with screenshots</a:t>
            </a:r>
            <a:endParaRPr lang="en-US" sz="1250" dirty="0"/>
          </a:p>
          <a:p>
            <a:pPr marL="279400" indent="-279400">
              <a:spcAft>
                <a:spcPts val="400"/>
              </a:spcAft>
              <a:buClr>
                <a:srgbClr val="1B3A6B"/>
              </a:buClr>
              <a:buSzPct val="100000"/>
              <a:buChar char="▶"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results: net return per route, edge checks per algorithm</a:t>
            </a:r>
            <a:endParaRPr lang="en-US" sz="1250" dirty="0"/>
          </a:p>
          <a:p>
            <a:pPr marL="279400" indent="-279400">
              <a:spcAft>
                <a:spcPts val="400"/>
              </a:spcAft>
              <a:buClr>
                <a:srgbClr val="1B3A6B"/>
              </a:buClr>
              <a:buSzPct val="100000"/>
              <a:buChar char="▶"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Market-condition-aware route ranking (liquidity, slippage, data freshness)</a:t>
            </a:r>
            <a:endParaRPr lang="en-US" sz="1250" dirty="0"/>
          </a:p>
          <a:p>
            <a:pPr marL="279400" indent="-279400">
              <a:spcAft>
                <a:spcPts val="400"/>
              </a:spcAft>
              <a:buClr>
                <a:srgbClr val="1B3A6B"/>
              </a:buClr>
              <a:buSzPct val="100000"/>
              <a:buChar char="▶"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Route-comparison table with a decision column</a:t>
            </a:r>
            <a:endParaRPr lang="en-US" sz="1250" dirty="0"/>
          </a:p>
          <a:p>
            <a:pPr marL="279400" indent="-279400">
              <a:spcAft>
                <a:spcPts val="400"/>
              </a:spcAft>
              <a:buClr>
                <a:srgbClr val="1B3A6B"/>
              </a:buClr>
              <a:buSzPct val="100000"/>
              <a:buChar char="▶"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final report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736592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736592" y="1572768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4800" indent="-304800">
              <a:spcAft>
                <a:spcPts val="3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ExchangeRate-API, open access endpoint: https://open.er-api.com/v6/latest/USD</a:t>
            </a:r>
            <a:endParaRPr lang="en-US" sz="1100" dirty="0"/>
          </a:p>
          <a:p>
            <a:pPr marL="304800" indent="-304800">
              <a:spcAft>
                <a:spcPts val="3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H. Cormen et al., Introduction to Algorithms, MIT Press: Bellman-Ford, BFS and DFS chapters</a:t>
            </a:r>
            <a:endParaRPr lang="en-US" sz="1100" dirty="0"/>
          </a:p>
          <a:p>
            <a:pPr marL="304800" indent="-304800">
              <a:spcAft>
                <a:spcPts val="3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Sedgewick and K. Wayne, Algorithms (4th ed.): shortest paths, negative cycles and the arbitrage example</a:t>
            </a:r>
            <a:endParaRPr lang="en-US" sz="1100" dirty="0"/>
          </a:p>
          <a:p>
            <a:pPr marL="304800" indent="-304800">
              <a:spcAft>
                <a:spcPts val="300"/>
              </a:spcAft>
              <a:buClr>
                <a:srgbClr val="1B3A6B"/>
              </a:buClr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files: market_builder.cpp, arbitrage.c, compare.c, run.sh, README.md</a:t>
            </a:r>
            <a:endParaRPr lang="en-US" sz="1100" dirty="0"/>
          </a:p>
        </p:txBody>
      </p:sp>
      <p:sp>
        <p:nvSpPr>
          <p:cNvPr id="9" name="Thank You"/>
          <p:cNvSpPr/>
          <p:nvPr/>
        </p:nvSpPr>
        <p:spPr>
          <a:xfrm>
            <a:off x="5120640" y="3657600"/>
            <a:ext cx="3291840" cy="5669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20640" y="36576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Suggestions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3794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DSCPP-III-2026-T384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4343400"/>
            <a:ext cx="8001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Discussion: A negative cycle is only a possible opportunity, not guaranteed profit. Exchange rates are reference rates updated roughly daily, not executable bid/ask quotes. Our next goal is market-condition-aware ranking to pick a more practical route.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2356</Words>
  <Application>Microsoft Office PowerPoint</Application>
  <PresentationFormat>On-screen Show (16:9)</PresentationFormat>
  <Paragraphs>275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Team &amp; Mentor Details</vt:lpstr>
      <vt:lpstr>Phase-I Recap &amp; Feedback Incorporated</vt:lpstr>
      <vt:lpstr>Problem Statement &amp; Finalized Objectives</vt:lpstr>
      <vt:lpstr>Updated System Architecture / Workflow</vt:lpstr>
      <vt:lpstr>Module Design &amp; Functional Requirements</vt:lpstr>
      <vt:lpstr>Technology Stack &amp; Development Methodology</vt:lpstr>
      <vt:lpstr>Implementation of PBL Course Concepts</vt:lpstr>
      <vt:lpstr>Development &amp; Implementation Progress</vt:lpstr>
      <vt:lpstr>Working Prototype / Demonstration</vt:lpstr>
      <vt:lpstr>Testing, Results &amp; Validation</vt:lpstr>
      <vt:lpstr>GitHub Repository &amp; Development Activity</vt:lpstr>
      <vt:lpstr>Individual Contribution</vt:lpstr>
      <vt:lpstr>Challenges, Remaining Work &amp; Phase-III Roadmap</vt:lpstr>
      <vt:lpstr>Expected Outcomes &amp; References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Currency Arbitrage - PBL Phase-II Evaluation</dc:title>
  <dc:subject>PptxGenJS Presentation</dc:subject>
  <dc:creator>PptxGenJS</dc:creator>
  <cp:lastModifiedBy>Dibyanshu Bahuguna</cp:lastModifiedBy>
  <cp:revision>2</cp:revision>
  <dcterms:created xsi:type="dcterms:W3CDTF">2026-10-22T07:21:41Z</dcterms:created>
  <dcterms:modified xsi:type="dcterms:W3CDTF">2026-10-22T08:24:09Z</dcterms:modified>
</cp:coreProperties>
</file>